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SCRIPT:</a:t>
            </a:r>
          </a:p>
          <a:p>
            <a:r>
              <a:t>'Good day, distinguished officers and candidates of the Kwara State Civil Service. Welcome to today's orientation session for the 2026 Promotion Evaluation Computer Based Test (CBT). The Civil Service Commission has structured this digital assessment to ensure merit, transparency, and seamless execution. In the next few minutes, we will walk you through every single screen and button you will encounter, the anti-cheating regulations, and what to expect on your test workstation. Please pay close attention to every detail.'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SCRIPT:</a:t>
            </a:r>
          </a:p>
          <a:p>
            <a:r>
              <a:t>'Before we examine the screens, remember these four pillars:</a:t>
            </a:r>
          </a:p>
          <a:p>
            <a:r>
              <a:t>1. Timing: You have strictly 20 minutes for 40 questions. That is an average of 30 seconds per question.</a:t>
            </a:r>
          </a:p>
          <a:p>
            <a:r>
              <a:t>2. Structure: 40 questions, objective multiple choice. Answer every single question.</a:t>
            </a:r>
          </a:p>
          <a:p>
            <a:r>
              <a:t>3. Result Policy: Do not expect a score on the computer when you finish. Scores are confidential and delivered to your MDA.</a:t>
            </a:r>
          </a:p>
          <a:p>
            <a:r>
              <a:t>4. Anti-cheating: The system detects tab switches and background applications. Three strikes terminate your exam.'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SCRIPT:</a:t>
            </a:r>
          </a:p>
          <a:p>
            <a:r>
              <a:t>'Here on Slide 3 is the exact login screen you will see on your computer or mobile screen.</a:t>
            </a:r>
          </a:p>
          <a:p>
            <a:r>
              <a:t>Look at your Photocard Slip. In the top right corner, you have your 6-digit PSN and your Code 1.</a:t>
            </a:r>
          </a:p>
          <a:p>
            <a:r>
              <a:t>Enter your PSN in the first box. Enter your Code 1 in the second box. Make sure you include any letters and hyphens.</a:t>
            </a:r>
          </a:p>
          <a:p>
            <a:r>
              <a:t>Then click 'Verify &amp; Access Examination'. Do not click multiple times—wait 2 seconds for the accreditation window to load.'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SCRIPT:</a:t>
            </a:r>
          </a:p>
          <a:p>
            <a:r>
              <a:t>'When you authenticate, this verification pop-up appears.</a:t>
            </a:r>
          </a:p>
          <a:p>
            <a:r>
              <a:t>Do NOT rush to click 'Confirm &amp; Begin'. Take 30 seconds to read every field.</a:t>
            </a:r>
          </a:p>
          <a:p>
            <a:r>
              <a:t>Is that your name? Is that your PSN? Is that your Ministry? Is that your allocated paper?</a:t>
            </a:r>
          </a:p>
          <a:p>
            <a:r>
              <a:t>If there is any discrepancy whatsoever, raise your hand immediately and inform the supervisor.</a:t>
            </a:r>
          </a:p>
          <a:p>
            <a:r>
              <a:t>Once you click 'Confirm &amp; Begin Examination', the system locks your paper and starts the countdown.'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SCRIPT:</a:t>
            </a:r>
          </a:p>
          <a:p>
            <a:r>
              <a:t>'Now examine Slide 5: this is your examination workspace.</a:t>
            </a:r>
          </a:p>
          <a:p>
            <a:r>
              <a:t>At the top, keep your eye on the timer. It counts down continuously from 20:00.</a:t>
            </a:r>
          </a:p>
          <a:p>
            <a:r>
              <a:t>You do not need to press any 'Save' button. As soon as you click an option, the system marks it as answered.</a:t>
            </a:r>
          </a:p>
          <a:p>
            <a:r>
              <a:t>Even if your network disconnects for a second, your selections are saved securely in your browser cache.'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SCRIPT:</a:t>
            </a:r>
          </a:p>
          <a:p>
            <a:r>
              <a:t>'Look closely at the right-hand side of your screen: the Question Grid with 40 boxes.</a:t>
            </a:r>
          </a:p>
          <a:p>
            <a:r>
              <a:t>Remember these colors:</a:t>
            </a:r>
          </a:p>
          <a:p>
            <a:r>
              <a:t>- GREEN means you have answered.</a:t>
            </a:r>
          </a:p>
          <a:p>
            <a:r>
              <a:t>- PURPLE means you flagged it for review.</a:t>
            </a:r>
          </a:p>
          <a:p>
            <a:r>
              <a:t>- GRAY means you have NOT answered yet.</a:t>
            </a:r>
          </a:p>
          <a:p>
            <a:r>
              <a:t>You do not need to click 'Next' 30 times to get to question 30. Simply tap 30 on the grid!</a:t>
            </a:r>
          </a:p>
          <a:p>
            <a:r>
              <a:t>If you change your mind and want to clear an answer, click 'Clear Choice'.'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SCRIPT:</a:t>
            </a:r>
          </a:p>
          <a:p>
            <a:r>
              <a:t>'Candidates, this is a crucial security rule:</a:t>
            </a:r>
          </a:p>
          <a:p>
            <a:r>
              <a:t>If you minimize your browser, switch to WhatsApp, open Google, or try to take a screenshot, your screen will immediately go pitch black as shown on this slide.</a:t>
            </a:r>
          </a:p>
          <a:p>
            <a:r>
              <a:t>The system considers this an unauthorized window blur.</a:t>
            </a:r>
          </a:p>
          <a:p>
            <a:r>
              <a:t>Clicking back into the screen will resume the exam, but it will register an infraction against you.</a:t>
            </a:r>
          </a:p>
          <a:p>
            <a:r>
              <a:t>Keep your focus solely on the CBT window throughout the 20 minutes.'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SCRIPT:</a:t>
            </a:r>
          </a:p>
          <a:p>
            <a:r>
              <a:t>'The Civil Service Commission has implemented a strict 3-Strike policy:</a:t>
            </a:r>
          </a:p>
          <a:p>
            <a:r>
              <a:t>- Strike 1: You get an official warning pop-up.</a:t>
            </a:r>
          </a:p>
          <a:p>
            <a:r>
              <a:t>- Strike 2: You get a final warning in bold red.</a:t>
            </a:r>
          </a:p>
          <a:p>
            <a:r>
              <a:t>- Strike 3: The system terminates your test immediately, locks your answers, and submits your paper with a proctor violation flag.</a:t>
            </a:r>
          </a:p>
          <a:p>
            <a:r>
              <a:t>Do not risk your promotion. Stay on the examination page until you finish.'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SCRIPT:</a:t>
            </a:r>
          </a:p>
          <a:p>
            <a:r>
              <a:t>'Before submitting, the computer performs an automated safety check.</a:t>
            </a:r>
          </a:p>
          <a:p>
            <a:r>
              <a:t>If you have unanswered questions, it will stop you with this warning showing exactly how many you missed.</a:t>
            </a:r>
          </a:p>
          <a:p>
            <a:r>
              <a:t>There is no negative marking in Kwara Civil Service CBT exams! A blank question is a guaranteed zero. An attempted question gives you a chance of scoring. Always click 'Return to Exam' and attempt all 40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SCRIPT:</a:t>
            </a:r>
          </a:p>
          <a:p>
            <a:r>
              <a:t>'When you click final submit, this is what appears on your screen: your Submission Acknowledgement Slip.</a:t>
            </a:r>
          </a:p>
          <a:p>
            <a:r>
              <a:t>It provides official proof that your test was successfully recorded.</a:t>
            </a:r>
          </a:p>
          <a:p>
            <a:r>
              <a:t>Check your electronic reference code at the bottom.</a:t>
            </a:r>
          </a:p>
          <a:p>
            <a:r>
              <a:t>You can click 'Print Acknowledgement Slip' to save it as a PDF or print it.</a:t>
            </a:r>
          </a:p>
          <a:p>
            <a:r>
              <a:t>Once you see this slip, your test is safely completed. You may close your browser and exit quietly.'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SCRIPT:</a:t>
            </a:r>
          </a:p>
          <a:p>
            <a:r>
              <a:t>'We want to emphasize this policy very clearly:</a:t>
            </a:r>
          </a:p>
          <a:p>
            <a:r>
              <a:t>Many candidates ask: 'Why didn't I see my score when I finished?'</a:t>
            </a:r>
          </a:p>
          <a:p>
            <a:r>
              <a:t>Civil Service promotion is a holistic evaluation. The CBT score is combined with your Annual Performance Evaluation Report (APER), your seniority, and promotional guidelines.</a:t>
            </a:r>
          </a:p>
          <a:p>
            <a:r>
              <a:t>Scores are not displayed on workstations to prevent unrest, hall disorder, or premature conclusions.</a:t>
            </a:r>
          </a:p>
          <a:p>
            <a:r>
              <a:t>Your official results will reach you through your Ministry, Department, or Agency through the proper administrative channels.'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SCRIPT:</a:t>
            </a:r>
          </a:p>
          <a:p>
            <a:r>
              <a:t>'For candidates taking the CBT on mobile devices or tablets, these 6 technical tips are essential:</a:t>
            </a:r>
          </a:p>
          <a:p>
            <a:r>
              <a:t>Number one: Put your phone on 'Do Not Disturb'. If your relative or colleague calls you during the exam, the incoming call overlay minimizes the CBT page, and the system registers a Strike 1 violation!</a:t>
            </a:r>
          </a:p>
          <a:p>
            <a:r>
              <a:t>Number two: Do not attempt 3-finger screenshot gestures. It will trigger a screen blackout.</a:t>
            </a:r>
          </a:p>
          <a:p>
            <a:r>
              <a:t>Number three: Keep your screen clean and use standard Google Chrome or Edge.'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SCRIPT:</a:t>
            </a:r>
          </a:p>
          <a:p>
            <a:r>
              <a:t>'To conclude our briefing today:</a:t>
            </a:r>
          </a:p>
          <a:p>
            <a:r>
              <a:t>Remember your golden checklist on Slide 13.</a:t>
            </a:r>
          </a:p>
          <a:p>
            <a:r>
              <a:t>Be calm, read each question carefully, manage your 20 minutes, answer all 40 questions, and print your acknowledgement slip when you submit.</a:t>
            </a:r>
          </a:p>
          <a:p>
            <a:r>
              <a:t>Are there any questions before we take candidates to the practice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D40"/>
          </a:solidFill>
          <a:ln>
            <a:solidFill>
              <a:srgbClr val="004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274320"/>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5394960" y="822960"/>
            <a:ext cx="1371600" cy="1371600"/>
          </a:xfrm>
          <a:prstGeom prst="rect">
            <a:avLst/>
          </a:prstGeom>
        </p:spPr>
      </p:pic>
      <p:sp>
        <p:nvSpPr>
          <p:cNvPr id="5" name="TextBox 4"/>
          <p:cNvSpPr txBox="1"/>
          <p:nvPr/>
        </p:nvSpPr>
        <p:spPr>
          <a:xfrm>
            <a:off x="914400" y="2377440"/>
            <a:ext cx="10362895" cy="2926080"/>
          </a:xfrm>
          <a:prstGeom prst="rect">
            <a:avLst/>
          </a:prstGeom>
          <a:noFill/>
        </p:spPr>
        <p:txBody>
          <a:bodyPr wrap="square">
            <a:spAutoFit/>
          </a:bodyPr>
          <a:lstStyle/>
          <a:p>
            <a:pPr algn="ctr">
              <a:defRPr sz="2000" b="1">
                <a:solidFill>
                  <a:srgbClr val="A7F3D0"/>
                </a:solidFill>
                <a:latin typeface="Arial"/>
              </a:defRPr>
            </a:pPr>
            <a:r>
              <a:t>KWARA STATE CIVIL SERVICE COMMISSION</a:t>
            </a:r>
          </a:p>
          <a:p>
            <a:pPr algn="ctr">
              <a:defRPr sz="3200" b="1">
                <a:solidFill>
                  <a:srgbClr val="FFFFFF"/>
                </a:solidFill>
                <a:latin typeface="Arial"/>
              </a:defRPr>
            </a:pPr>
            <a:r>
              <a:t>2026 Promotion Evaluation CBT Examination</a:t>
            </a:r>
          </a:p>
          <a:p>
            <a:pPr algn="ctr">
              <a:defRPr sz="1700">
                <a:solidFill>
                  <a:srgbClr val="FEF3C7"/>
                </a:solidFill>
                <a:latin typeface="Arial"/>
              </a:defRPr>
            </a:pPr>
            <a:r>
              <a:t>Candidate Step-by-Step Orientation &amp; System Interface Walkthrough</a:t>
            </a:r>
          </a:p>
        </p:txBody>
      </p:sp>
      <p:sp>
        <p:nvSpPr>
          <p:cNvPr id="6" name="Rounded Rectangle 5"/>
          <p:cNvSpPr/>
          <p:nvPr/>
        </p:nvSpPr>
        <p:spPr>
          <a:xfrm>
            <a:off x="2286000" y="5120640"/>
            <a:ext cx="7619695" cy="822960"/>
          </a:xfrm>
          <a:prstGeom prst="roundRect">
            <a:avLst/>
          </a:prstGeom>
          <a:solidFill>
            <a:srgbClr val="00796B"/>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Official Briefing for All Civil Service Promotion Candidates • Batch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4D40"/>
          </a:solidFill>
          <a:ln>
            <a:solidFill>
              <a:srgbClr val="004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365760" y="109728"/>
            <a:ext cx="822960" cy="822960"/>
          </a:xfrm>
          <a:prstGeom prst="rect">
            <a:avLst/>
          </a:prstGeom>
        </p:spPr>
      </p:pic>
      <p:sp>
        <p:nvSpPr>
          <p:cNvPr id="4" name="TextBox 3"/>
          <p:cNvSpPr txBox="1"/>
          <p:nvPr/>
        </p:nvSpPr>
        <p:spPr>
          <a:xfrm>
            <a:off x="1325880" y="109728"/>
            <a:ext cx="8961120" cy="868680"/>
          </a:xfrm>
          <a:prstGeom prst="rect">
            <a:avLst/>
          </a:prstGeom>
          <a:noFill/>
        </p:spPr>
        <p:txBody>
          <a:bodyPr wrap="square" lIns="0" tIns="0" rIns="0" bIns="0">
            <a:spAutoFit/>
          </a:bodyPr>
          <a:lstStyle/>
          <a:p>
            <a:pPr>
              <a:defRPr sz="950" b="1">
                <a:solidFill>
                  <a:srgbClr val="A7F3D0"/>
                </a:solidFill>
                <a:latin typeface="Arial"/>
              </a:defRPr>
            </a:pPr>
            <a:r>
              <a:t>EXAMINATION OVERVIEW</a:t>
            </a:r>
          </a:p>
          <a:p>
            <a:pPr>
              <a:defRPr sz="1700" b="1">
                <a:solidFill>
                  <a:srgbClr val="FFFFFF"/>
                </a:solidFill>
                <a:latin typeface="Arial"/>
              </a:defRPr>
            </a:pPr>
            <a:r>
              <a:t>Core Ground Rules &amp; Evaluation Structure</a:t>
            </a:r>
          </a:p>
        </p:txBody>
      </p:sp>
      <p:sp>
        <p:nvSpPr>
          <p:cNvPr id="5" name="Rounded Rectangle 4"/>
          <p:cNvSpPr/>
          <p:nvPr/>
        </p:nvSpPr>
        <p:spPr>
          <a:xfrm>
            <a:off x="10424160" y="320040"/>
            <a:ext cx="1371600" cy="411480"/>
          </a:xfrm>
          <a:prstGeom prst="roundRect">
            <a:avLst/>
          </a:prstGeom>
          <a:solidFill>
            <a:srgbClr val="00796B"/>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Overview</a:t>
            </a:r>
          </a:p>
        </p:txBody>
      </p:sp>
      <p:sp>
        <p:nvSpPr>
          <p:cNvPr id="6" name="TextBox 5"/>
          <p:cNvSpPr txBox="1"/>
          <p:nvPr/>
        </p:nvSpPr>
        <p:spPr>
          <a:xfrm>
            <a:off x="548640" y="6473952"/>
            <a:ext cx="11094415" cy="320040"/>
          </a:xfrm>
          <a:prstGeom prst="rect">
            <a:avLst/>
          </a:prstGeom>
          <a:noFill/>
        </p:spPr>
        <p:txBody>
          <a:bodyPr wrap="none">
            <a:spAutoFit/>
          </a:bodyPr>
          <a:lstStyle/>
          <a:p>
            <a:pPr>
              <a:defRPr sz="900">
                <a:solidFill>
                  <a:srgbClr val="64748B"/>
                </a:solidFill>
                <a:latin typeface="Arial"/>
              </a:defRPr>
            </a:pPr>
            <a:r>
              <a:t>Kwara State Civil Service Commission (CSC) • 2026 Promotion Evaluation CBT Examination Guide</a:t>
            </a:r>
          </a:p>
        </p:txBody>
      </p:sp>
      <p:sp>
        <p:nvSpPr>
          <p:cNvPr id="7" name="Rounded Rectangle 6"/>
          <p:cNvSpPr/>
          <p:nvPr/>
        </p:nvSpPr>
        <p:spPr>
          <a:xfrm>
            <a:off x="548640" y="1325880"/>
            <a:ext cx="2651760" cy="3291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3600"/>
            </a:pPr>
            <a:r>
              <a:t>⏱️</a:t>
            </a:r>
          </a:p>
          <a:p>
            <a:pPr algn="ctr">
              <a:defRPr sz="1600" b="1">
                <a:solidFill>
                  <a:srgbClr val="004D40"/>
                </a:solidFill>
                <a:latin typeface="Arial"/>
              </a:defRPr>
            </a:pPr>
            <a:r>
              <a:t>20 MINUTES</a:t>
            </a:r>
          </a:p>
          <a:p>
            <a:pPr algn="ctr">
              <a:defRPr sz="1000" b="1">
                <a:solidFill>
                  <a:srgbClr val="D97706"/>
                </a:solidFill>
                <a:latin typeface="Arial"/>
              </a:defRPr>
            </a:pPr>
            <a:r>
              <a:t>STRICT TIMING</a:t>
            </a:r>
          </a:p>
          <a:p>
            <a:pPr algn="ctr">
              <a:defRPr sz="1000">
                <a:solidFill>
                  <a:srgbClr val="1E293B"/>
                </a:solidFill>
                <a:latin typeface="Arial"/>
              </a:defRPr>
            </a:pPr>
            <a:r>
              <a:t>Each candidate has exactly 20 minutes to complete the evaluation. A live countdown clock is always visible on screen.</a:t>
            </a:r>
          </a:p>
        </p:txBody>
      </p:sp>
      <p:sp>
        <p:nvSpPr>
          <p:cNvPr id="8" name="Rounded Rectangle 7"/>
          <p:cNvSpPr/>
          <p:nvPr/>
        </p:nvSpPr>
        <p:spPr>
          <a:xfrm>
            <a:off x="3337560" y="1325880"/>
            <a:ext cx="2651760" cy="3291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3600"/>
            </a:pPr>
            <a:r>
              <a:t>📝</a:t>
            </a:r>
          </a:p>
          <a:p>
            <a:pPr algn="ctr">
              <a:defRPr sz="1600" b="1">
                <a:solidFill>
                  <a:srgbClr val="004D40"/>
                </a:solidFill>
                <a:latin typeface="Arial"/>
              </a:defRPr>
            </a:pPr>
            <a:r>
              <a:t>40 QUESTIONS</a:t>
            </a:r>
          </a:p>
          <a:p>
            <a:pPr algn="ctr">
              <a:defRPr sz="1000" b="1">
                <a:solidFill>
                  <a:srgbClr val="D97706"/>
                </a:solidFill>
                <a:latin typeface="Arial"/>
              </a:defRPr>
            </a:pPr>
            <a:r>
              <a:t>MULTIPLE CHOICE</a:t>
            </a:r>
          </a:p>
          <a:p>
            <a:pPr algn="ctr">
              <a:defRPr sz="1000">
                <a:solidFill>
                  <a:srgbClr val="1E293B"/>
                </a:solidFill>
                <a:latin typeface="Arial"/>
              </a:defRPr>
            </a:pPr>
            <a:r>
              <a:t>Each paper consists of exactly 40 objective questions (1 mark each). All 40 questions should be attempted.</a:t>
            </a:r>
          </a:p>
        </p:txBody>
      </p:sp>
      <p:sp>
        <p:nvSpPr>
          <p:cNvPr id="9" name="Rounded Rectangle 8"/>
          <p:cNvSpPr/>
          <p:nvPr/>
        </p:nvSpPr>
        <p:spPr>
          <a:xfrm>
            <a:off x="6126479" y="1325880"/>
            <a:ext cx="2651760" cy="3291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3600"/>
            </a:pPr>
            <a:r>
              <a:t>🔒</a:t>
            </a:r>
          </a:p>
          <a:p>
            <a:pPr algn="ctr">
              <a:defRPr sz="1600" b="1">
                <a:solidFill>
                  <a:srgbClr val="004D40"/>
                </a:solidFill>
                <a:latin typeface="Arial"/>
              </a:defRPr>
            </a:pPr>
            <a:r>
              <a:t>ZERO SCORE ON SCREEN</a:t>
            </a:r>
          </a:p>
          <a:p>
            <a:pPr algn="ctr">
              <a:defRPr sz="1000" b="1">
                <a:solidFill>
                  <a:srgbClr val="D97706"/>
                </a:solidFill>
                <a:latin typeface="Arial"/>
              </a:defRPr>
            </a:pPr>
            <a:r>
              <a:t>CONFIDENTIALITY</a:t>
            </a:r>
          </a:p>
          <a:p>
            <a:pPr algn="ctr">
              <a:defRPr sz="1000">
                <a:solidFill>
                  <a:srgbClr val="1E293B"/>
                </a:solidFill>
                <a:latin typeface="Arial"/>
              </a:defRPr>
            </a:pPr>
            <a:r>
              <a:t>In accordance with Civil Service rules, marks are NEVER displayed on workstation screens upon submission.</a:t>
            </a:r>
          </a:p>
        </p:txBody>
      </p:sp>
      <p:sp>
        <p:nvSpPr>
          <p:cNvPr id="10" name="Rounded Rectangle 9"/>
          <p:cNvSpPr/>
          <p:nvPr/>
        </p:nvSpPr>
        <p:spPr>
          <a:xfrm>
            <a:off x="8915399" y="1325880"/>
            <a:ext cx="2651760" cy="3291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3600"/>
            </a:pPr>
            <a:r>
              <a:t>🛡️</a:t>
            </a:r>
          </a:p>
          <a:p>
            <a:pPr algn="ctr">
              <a:defRPr sz="1600" b="1">
                <a:solidFill>
                  <a:srgbClr val="004D40"/>
                </a:solidFill>
                <a:latin typeface="Arial"/>
              </a:defRPr>
            </a:pPr>
            <a:r>
              <a:t>3-STRIKE POLICY</a:t>
            </a:r>
          </a:p>
          <a:p>
            <a:pPr algn="ctr">
              <a:defRPr sz="1000" b="1">
                <a:solidFill>
                  <a:srgbClr val="D97706"/>
                </a:solidFill>
                <a:latin typeface="Arial"/>
              </a:defRPr>
            </a:pPr>
            <a:r>
              <a:t>PROCTOR SECURITY</a:t>
            </a:r>
          </a:p>
          <a:p>
            <a:pPr algn="ctr">
              <a:defRPr sz="1000">
                <a:solidFill>
                  <a:srgbClr val="1E293B"/>
                </a:solidFill>
                <a:latin typeface="Arial"/>
              </a:defRPr>
            </a:pPr>
            <a:r>
              <a:t>Switching apps, minimizing the browser, or taking screenshots triggers automated violation strikes.</a:t>
            </a:r>
          </a:p>
        </p:txBody>
      </p:sp>
      <p:sp>
        <p:nvSpPr>
          <p:cNvPr id="11" name="Rounded Rectangle 10"/>
          <p:cNvSpPr/>
          <p:nvPr/>
        </p:nvSpPr>
        <p:spPr>
          <a:xfrm>
            <a:off x="548640" y="4846320"/>
            <a:ext cx="11094415" cy="1417320"/>
          </a:xfrm>
          <a:prstGeom prst="roundRect">
            <a:avLst/>
          </a:prstGeom>
          <a:solidFill>
            <a:srgbClr val="FEF2F2"/>
          </a:solidFill>
          <a:ln w="1905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defRPr sz="1200" b="1">
                <a:solidFill>
                  <a:srgbClr val="DC2626"/>
                </a:solidFill>
                <a:latin typeface="Arial"/>
              </a:defRPr>
            </a:pPr>
            <a:r>
              <a:t>⚠️ MANDATORY REQUIREMENT BEFORE ENTERING THE HALL</a:t>
            </a:r>
          </a:p>
          <a:p>
            <a:pPr>
              <a:defRPr sz="1050">
                <a:solidFill>
                  <a:srgbClr val="7F1D1D"/>
                </a:solidFill>
                <a:latin typeface="Arial"/>
              </a:defRPr>
            </a:pPr>
            <a:r>
              <a:t>• Bring your printed Photocard Registration Slip showing your Public Service Number (PSN) and Code 1.</a:t>
            </a:r>
            <a:br/>
            <a:r>
              <a:t>• Ensure you know your assigned Examination Batch and scheduled time slot.</a:t>
            </a:r>
            <a:br/>
            <a:r>
              <a:t>• If using a smartphone, ensure your battery is at least 80% charged and turn off background notifications.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4D40"/>
          </a:solidFill>
          <a:ln>
            <a:solidFill>
              <a:srgbClr val="004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365760" y="109728"/>
            <a:ext cx="822960" cy="822960"/>
          </a:xfrm>
          <a:prstGeom prst="rect">
            <a:avLst/>
          </a:prstGeom>
        </p:spPr>
      </p:pic>
      <p:sp>
        <p:nvSpPr>
          <p:cNvPr id="4" name="TextBox 3"/>
          <p:cNvSpPr txBox="1"/>
          <p:nvPr/>
        </p:nvSpPr>
        <p:spPr>
          <a:xfrm>
            <a:off x="1325880" y="109728"/>
            <a:ext cx="8961120" cy="868680"/>
          </a:xfrm>
          <a:prstGeom prst="rect">
            <a:avLst/>
          </a:prstGeom>
          <a:noFill/>
        </p:spPr>
        <p:txBody>
          <a:bodyPr wrap="square" lIns="0" tIns="0" rIns="0" bIns="0">
            <a:spAutoFit/>
          </a:bodyPr>
          <a:lstStyle/>
          <a:p>
            <a:pPr>
              <a:defRPr sz="950" b="1">
                <a:solidFill>
                  <a:srgbClr val="A7F3D0"/>
                </a:solidFill>
                <a:latin typeface="Arial"/>
              </a:defRPr>
            </a:pPr>
            <a:r>
              <a:t>STAGE 1 OF 7</a:t>
            </a:r>
          </a:p>
          <a:p>
            <a:pPr>
              <a:defRPr sz="1700" b="1">
                <a:solidFill>
                  <a:srgbClr val="FFFFFF"/>
                </a:solidFill>
                <a:latin typeface="Arial"/>
              </a:defRPr>
            </a:pPr>
            <a:r>
              <a:t>Candidate Portal Login &amp; Accreditation</a:t>
            </a:r>
          </a:p>
        </p:txBody>
      </p:sp>
      <p:sp>
        <p:nvSpPr>
          <p:cNvPr id="5" name="Rounded Rectangle 4"/>
          <p:cNvSpPr/>
          <p:nvPr/>
        </p:nvSpPr>
        <p:spPr>
          <a:xfrm>
            <a:off x="10424160" y="320040"/>
            <a:ext cx="1371600" cy="411480"/>
          </a:xfrm>
          <a:prstGeom prst="roundRect">
            <a:avLst/>
          </a:prstGeom>
          <a:solidFill>
            <a:srgbClr val="00796B"/>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Stage 1</a:t>
            </a:r>
          </a:p>
        </p:txBody>
      </p:sp>
      <p:sp>
        <p:nvSpPr>
          <p:cNvPr id="6" name="TextBox 5"/>
          <p:cNvSpPr txBox="1"/>
          <p:nvPr/>
        </p:nvSpPr>
        <p:spPr>
          <a:xfrm>
            <a:off x="548640" y="6473952"/>
            <a:ext cx="11094415" cy="320040"/>
          </a:xfrm>
          <a:prstGeom prst="rect">
            <a:avLst/>
          </a:prstGeom>
          <a:noFill/>
        </p:spPr>
        <p:txBody>
          <a:bodyPr wrap="none">
            <a:spAutoFit/>
          </a:bodyPr>
          <a:lstStyle/>
          <a:p>
            <a:pPr>
              <a:defRPr sz="900">
                <a:solidFill>
                  <a:srgbClr val="64748B"/>
                </a:solidFill>
                <a:latin typeface="Arial"/>
              </a:defRPr>
            </a:pPr>
            <a:r>
              <a:t>Kwara State Civil Service Commission (CSC) • 2026 Promotion Evaluation CBT Examination Guide</a:t>
            </a:r>
          </a:p>
        </p:txBody>
      </p:sp>
      <p:pic>
        <p:nvPicPr>
          <p:cNvPr id="7" name="Picture 6" descr="stage1_login.png"/>
          <p:cNvPicPr>
            <a:picLocks noChangeAspect="1"/>
          </p:cNvPicPr>
          <p:nvPr/>
        </p:nvPicPr>
        <p:blipFill>
          <a:blip r:embed="rId3"/>
          <a:stretch>
            <a:fillRect/>
          </a:stretch>
        </p:blipFill>
        <p:spPr>
          <a:xfrm>
            <a:off x="548640" y="1280160"/>
            <a:ext cx="6583680" cy="4217670"/>
          </a:xfrm>
          <a:prstGeom prst="rect">
            <a:avLst/>
          </a:prstGeom>
        </p:spPr>
      </p:pic>
      <p:sp>
        <p:nvSpPr>
          <p:cNvPr id="8" name="Rounded Rectangle 7"/>
          <p:cNvSpPr/>
          <p:nvPr/>
        </p:nvSpPr>
        <p:spPr>
          <a:xfrm>
            <a:off x="7315200" y="1280160"/>
            <a:ext cx="4327855" cy="4983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04D40"/>
                </a:solidFill>
                <a:latin typeface="Arial"/>
              </a:defRPr>
            </a:pPr>
            <a:r>
              <a:t>🔑 HOW TO LOG IN</a:t>
            </a:r>
          </a:p>
          <a:p>
            <a:pPr>
              <a:defRPr sz="1000" b="1">
                <a:solidFill>
                  <a:srgbClr val="1E293B"/>
                </a:solidFill>
                <a:latin typeface="Arial"/>
              </a:defRPr>
            </a:pPr>
            <a:r>
              <a:t>• Step 1: Check Portal Status: </a:t>
            </a:r>
            <a:r>
              <a:rPr b="0">
                <a:solidFill>
                  <a:srgbClr val="64748B"/>
                </a:solidFill>
              </a:rPr>
              <a:t>Verify that the top status bar displays 'ACTIVE &amp; ACCREDITATION OPEN'.</a:t>
            </a:r>
          </a:p>
          <a:p>
            <a:pPr>
              <a:defRPr sz="1000" b="1">
                <a:solidFill>
                  <a:srgbClr val="1E293B"/>
                </a:solidFill>
                <a:latin typeface="Arial"/>
              </a:defRPr>
            </a:pPr>
            <a:r>
              <a:t>• Step 2: Enter Public Service Number (PSN): </a:t>
            </a:r>
            <a:r>
              <a:rPr b="0">
                <a:solidFill>
                  <a:srgbClr val="64748B"/>
                </a:solidFill>
              </a:rPr>
              <a:t>Type your official 6-digit Kwara State civil service number (e.g. 123456).</a:t>
            </a:r>
          </a:p>
          <a:p>
            <a:pPr>
              <a:defRPr sz="1000" b="1">
                <a:solidFill>
                  <a:srgbClr val="1E293B"/>
                </a:solidFill>
                <a:latin typeface="Arial"/>
              </a:defRPr>
            </a:pPr>
            <a:r>
              <a:t>• Step 3: Enter Official Code 1: </a:t>
            </a:r>
            <a:r>
              <a:rPr b="0">
                <a:solidFill>
                  <a:srgbClr val="64748B"/>
                </a:solidFill>
              </a:rPr>
              <a:t>Enter the exact Examination Code 1 printed on your Photocard Slip (e.g. B-10294). This code is case-sensitive.</a:t>
            </a:r>
          </a:p>
          <a:p>
            <a:pPr>
              <a:defRPr sz="1000" b="1">
                <a:solidFill>
                  <a:srgbClr val="1E293B"/>
                </a:solidFill>
                <a:latin typeface="Arial"/>
              </a:defRPr>
            </a:pPr>
            <a:r>
              <a:t>• Step 4: Click 'Verify &amp; Access': </a:t>
            </a:r>
            <a:r>
              <a:rPr b="0">
                <a:solidFill>
                  <a:srgbClr val="64748B"/>
                </a:solidFill>
              </a:rPr>
              <a:t>Click the dark green button to authenticate your candidate record.</a:t>
            </a:r>
          </a:p>
          <a:p>
            <a:br/>
            <a:pPr>
              <a:defRPr sz="1000" b="1">
                <a:solidFill>
                  <a:srgbClr val="D97706"/>
                </a:solidFill>
                <a:latin typeface="Arial"/>
              </a:defRPr>
            </a:pPr>
            <a:r>
              <a:t>💡 PRO TIP FOR CANDIDATES:</a:t>
            </a:r>
          </a:p>
          <a:p>
            <a:pPr>
              <a:defRPr sz="950">
                <a:solidFill>
                  <a:srgbClr val="1E293B"/>
                </a:solidFill>
                <a:latin typeface="Arial"/>
              </a:defRPr>
            </a:pPr>
            <a:r>
              <a:t>Do not share your Code 1 with anyone. Each code can only be activated once for your specific examination paper.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4D40"/>
          </a:solidFill>
          <a:ln>
            <a:solidFill>
              <a:srgbClr val="004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365760" y="109728"/>
            <a:ext cx="822960" cy="822960"/>
          </a:xfrm>
          <a:prstGeom prst="rect">
            <a:avLst/>
          </a:prstGeom>
        </p:spPr>
      </p:pic>
      <p:sp>
        <p:nvSpPr>
          <p:cNvPr id="4" name="TextBox 3"/>
          <p:cNvSpPr txBox="1"/>
          <p:nvPr/>
        </p:nvSpPr>
        <p:spPr>
          <a:xfrm>
            <a:off x="1325880" y="109728"/>
            <a:ext cx="8961120" cy="868680"/>
          </a:xfrm>
          <a:prstGeom prst="rect">
            <a:avLst/>
          </a:prstGeom>
          <a:noFill/>
        </p:spPr>
        <p:txBody>
          <a:bodyPr wrap="square" lIns="0" tIns="0" rIns="0" bIns="0">
            <a:spAutoFit/>
          </a:bodyPr>
          <a:lstStyle/>
          <a:p>
            <a:pPr>
              <a:defRPr sz="950" b="1">
                <a:solidFill>
                  <a:srgbClr val="A7F3D0"/>
                </a:solidFill>
                <a:latin typeface="Arial"/>
              </a:defRPr>
            </a:pPr>
            <a:r>
              <a:t>STAGE 2 OF 7</a:t>
            </a:r>
          </a:p>
          <a:p>
            <a:pPr>
              <a:defRPr sz="1700" b="1">
                <a:solidFill>
                  <a:srgbClr val="FFFFFF"/>
                </a:solidFill>
                <a:latin typeface="Arial"/>
              </a:defRPr>
            </a:pPr>
            <a:r>
              <a:t>Candidate Bio-Data &amp; Paper Allocation Verification</a:t>
            </a:r>
          </a:p>
        </p:txBody>
      </p:sp>
      <p:sp>
        <p:nvSpPr>
          <p:cNvPr id="5" name="Rounded Rectangle 4"/>
          <p:cNvSpPr/>
          <p:nvPr/>
        </p:nvSpPr>
        <p:spPr>
          <a:xfrm>
            <a:off x="10424160" y="320040"/>
            <a:ext cx="1371600" cy="411480"/>
          </a:xfrm>
          <a:prstGeom prst="roundRect">
            <a:avLst/>
          </a:prstGeom>
          <a:solidFill>
            <a:srgbClr val="00796B"/>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Stage 2</a:t>
            </a:r>
          </a:p>
        </p:txBody>
      </p:sp>
      <p:sp>
        <p:nvSpPr>
          <p:cNvPr id="6" name="TextBox 5"/>
          <p:cNvSpPr txBox="1"/>
          <p:nvPr/>
        </p:nvSpPr>
        <p:spPr>
          <a:xfrm>
            <a:off x="548640" y="6473952"/>
            <a:ext cx="11094415" cy="320040"/>
          </a:xfrm>
          <a:prstGeom prst="rect">
            <a:avLst/>
          </a:prstGeom>
          <a:noFill/>
        </p:spPr>
        <p:txBody>
          <a:bodyPr wrap="none">
            <a:spAutoFit/>
          </a:bodyPr>
          <a:lstStyle/>
          <a:p>
            <a:pPr>
              <a:defRPr sz="900">
                <a:solidFill>
                  <a:srgbClr val="64748B"/>
                </a:solidFill>
                <a:latin typeface="Arial"/>
              </a:defRPr>
            </a:pPr>
            <a:r>
              <a:t>Kwara State Civil Service Commission (CSC) • 2026 Promotion Evaluation CBT Examination Guide</a:t>
            </a:r>
          </a:p>
        </p:txBody>
      </p:sp>
      <p:pic>
        <p:nvPicPr>
          <p:cNvPr id="7" name="Picture 6" descr="stage2_verification.png"/>
          <p:cNvPicPr>
            <a:picLocks noChangeAspect="1"/>
          </p:cNvPicPr>
          <p:nvPr/>
        </p:nvPicPr>
        <p:blipFill>
          <a:blip r:embed="rId3"/>
          <a:stretch>
            <a:fillRect/>
          </a:stretch>
        </p:blipFill>
        <p:spPr>
          <a:xfrm>
            <a:off x="548640" y="1280160"/>
            <a:ext cx="6583680" cy="4217670"/>
          </a:xfrm>
          <a:prstGeom prst="rect">
            <a:avLst/>
          </a:prstGeom>
        </p:spPr>
      </p:pic>
      <p:sp>
        <p:nvSpPr>
          <p:cNvPr id="8" name="Rounded Rectangle 7"/>
          <p:cNvSpPr/>
          <p:nvPr/>
        </p:nvSpPr>
        <p:spPr>
          <a:xfrm>
            <a:off x="7315200" y="1280160"/>
            <a:ext cx="4327855" cy="4983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04D40"/>
                </a:solidFill>
                <a:latin typeface="Arial"/>
              </a:defRPr>
            </a:pPr>
            <a:r>
              <a:t>📋 VERIFY BEFORE YOU BEGIN</a:t>
            </a:r>
          </a:p>
          <a:p>
            <a:pPr>
              <a:defRPr sz="1000" b="1">
                <a:solidFill>
                  <a:srgbClr val="1E293B"/>
                </a:solidFill>
                <a:latin typeface="Arial"/>
              </a:defRPr>
            </a:pPr>
            <a:r>
              <a:t>✔ Full Name &amp; PSN: </a:t>
            </a:r>
            <a:r>
              <a:rPr b="0">
                <a:solidFill>
                  <a:srgbClr val="64748B"/>
                </a:solidFill>
              </a:rPr>
              <a:t>Ensure the name displayed matches your civil service record exactly.</a:t>
            </a:r>
          </a:p>
          <a:p>
            <a:pPr>
              <a:defRPr sz="1000" b="1">
                <a:solidFill>
                  <a:srgbClr val="1E293B"/>
                </a:solidFill>
                <a:latin typeface="Arial"/>
              </a:defRPr>
            </a:pPr>
            <a:r>
              <a:t>✔ Ministry / Department: </a:t>
            </a:r>
            <a:r>
              <a:rPr b="0">
                <a:solidFill>
                  <a:srgbClr val="64748B"/>
                </a:solidFill>
              </a:rPr>
              <a:t>Verify your current posting/MDA is accurately reflected.</a:t>
            </a:r>
          </a:p>
          <a:p>
            <a:pPr>
              <a:defRPr sz="1000" b="1">
                <a:solidFill>
                  <a:srgbClr val="1E293B"/>
                </a:solidFill>
                <a:latin typeface="Arial"/>
              </a:defRPr>
            </a:pPr>
            <a:r>
              <a:t>✔ Grade Level &amp; Cadre: </a:t>
            </a:r>
            <a:r>
              <a:rPr b="0">
                <a:solidFill>
                  <a:srgbClr val="64748B"/>
                </a:solidFill>
              </a:rPr>
              <a:t>Confirm your proposed promotional rank and cadre.</a:t>
            </a:r>
          </a:p>
          <a:p>
            <a:pPr>
              <a:defRPr sz="1000" b="1">
                <a:solidFill>
                  <a:srgbClr val="1E293B"/>
                </a:solidFill>
                <a:latin typeface="Arial"/>
              </a:defRPr>
            </a:pPr>
            <a:r>
              <a:t>✔ Allocated Paper Code: </a:t>
            </a:r>
            <a:r>
              <a:rPr b="0">
                <a:solidFill>
                  <a:srgbClr val="64748B"/>
                </a:solidFill>
              </a:rPr>
              <a:t>Check the paper code (e.g. MARD-GL12-B). This determines the questions presented.</a:t>
            </a:r>
          </a:p>
          <a:p>
            <a:pPr>
              <a:defRPr sz="1000" b="1">
                <a:solidFill>
                  <a:srgbClr val="1E293B"/>
                </a:solidFill>
                <a:latin typeface="Arial"/>
              </a:defRPr>
            </a:pPr>
            <a:r>
              <a:t>✔ If Everything is Correct: </a:t>
            </a:r>
            <a:r>
              <a:rPr b="0">
                <a:solidFill>
                  <a:srgbClr val="64748B"/>
                </a:solidFill>
              </a:rPr>
              <a:t>Click the dark green 'Confirm &amp; Begin Examination' button to launch the exam clock.</a:t>
            </a:r>
          </a:p>
          <a:p>
            <a:pPr>
              <a:defRPr sz="1000" b="1">
                <a:solidFill>
                  <a:srgbClr val="1E293B"/>
                </a:solidFill>
                <a:latin typeface="Arial"/>
              </a:defRPr>
            </a:pPr>
            <a:r>
              <a:t>✔ If You Notice an Error: </a:t>
            </a:r>
            <a:r>
              <a:rPr b="0">
                <a:solidFill>
                  <a:srgbClr val="64748B"/>
                </a:solidFill>
              </a:rPr>
              <a:t>Click 'Report Discrepancy' immediately and alert the hall supervisor BEFORE starting.</a:t>
            </a:r>
          </a:p>
          <a:p>
            <a:br/>
            <a:pPr>
              <a:defRPr sz="1000" b="1">
                <a:solidFill>
                  <a:srgbClr val="DC2626"/>
                </a:solidFill>
                <a:latin typeface="Arial"/>
              </a:defRPr>
            </a:pPr>
            <a:r>
              <a:t>⚠️ CRITICAL WARNING:</a:t>
            </a:r>
          </a:p>
          <a:p>
            <a:pPr>
              <a:defRPr sz="950" b="1">
                <a:solidFill>
                  <a:srgbClr val="DC2626"/>
                </a:solidFill>
                <a:latin typeface="Arial"/>
              </a:defRPr>
            </a:pPr>
            <a:r>
              <a:t>Once you click 'Confirm &amp; Begin Examination', your 20-minute timer begins counting down and CANNOT be paused or reset!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4D40"/>
          </a:solidFill>
          <a:ln>
            <a:solidFill>
              <a:srgbClr val="004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365760" y="109728"/>
            <a:ext cx="822960" cy="822960"/>
          </a:xfrm>
          <a:prstGeom prst="rect">
            <a:avLst/>
          </a:prstGeom>
        </p:spPr>
      </p:pic>
      <p:sp>
        <p:nvSpPr>
          <p:cNvPr id="4" name="TextBox 3"/>
          <p:cNvSpPr txBox="1"/>
          <p:nvPr/>
        </p:nvSpPr>
        <p:spPr>
          <a:xfrm>
            <a:off x="1325880" y="109728"/>
            <a:ext cx="8961120" cy="868680"/>
          </a:xfrm>
          <a:prstGeom prst="rect">
            <a:avLst/>
          </a:prstGeom>
          <a:noFill/>
        </p:spPr>
        <p:txBody>
          <a:bodyPr wrap="square" lIns="0" tIns="0" rIns="0" bIns="0">
            <a:spAutoFit/>
          </a:bodyPr>
          <a:lstStyle/>
          <a:p>
            <a:pPr>
              <a:defRPr sz="950" b="1">
                <a:solidFill>
                  <a:srgbClr val="A7F3D0"/>
                </a:solidFill>
                <a:latin typeface="Arial"/>
              </a:defRPr>
            </a:pPr>
            <a:r>
              <a:t>STAGE 3 OF 7</a:t>
            </a:r>
          </a:p>
          <a:p>
            <a:pPr>
              <a:defRPr sz="1700" b="1">
                <a:solidFill>
                  <a:srgbClr val="FFFFFF"/>
                </a:solidFill>
                <a:latin typeface="Arial"/>
              </a:defRPr>
            </a:pPr>
            <a:r>
              <a:t>The Active Examination Screen &amp; Top Header</a:t>
            </a:r>
          </a:p>
        </p:txBody>
      </p:sp>
      <p:sp>
        <p:nvSpPr>
          <p:cNvPr id="5" name="Rounded Rectangle 4"/>
          <p:cNvSpPr/>
          <p:nvPr/>
        </p:nvSpPr>
        <p:spPr>
          <a:xfrm>
            <a:off x="10424160" y="320040"/>
            <a:ext cx="1371600" cy="411480"/>
          </a:xfrm>
          <a:prstGeom prst="roundRect">
            <a:avLst/>
          </a:prstGeom>
          <a:solidFill>
            <a:srgbClr val="00796B"/>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Stage 3A</a:t>
            </a:r>
          </a:p>
        </p:txBody>
      </p:sp>
      <p:sp>
        <p:nvSpPr>
          <p:cNvPr id="6" name="TextBox 5"/>
          <p:cNvSpPr txBox="1"/>
          <p:nvPr/>
        </p:nvSpPr>
        <p:spPr>
          <a:xfrm>
            <a:off x="548640" y="6473952"/>
            <a:ext cx="11094415" cy="320040"/>
          </a:xfrm>
          <a:prstGeom prst="rect">
            <a:avLst/>
          </a:prstGeom>
          <a:noFill/>
        </p:spPr>
        <p:txBody>
          <a:bodyPr wrap="none">
            <a:spAutoFit/>
          </a:bodyPr>
          <a:lstStyle/>
          <a:p>
            <a:pPr>
              <a:defRPr sz="900">
                <a:solidFill>
                  <a:srgbClr val="64748B"/>
                </a:solidFill>
                <a:latin typeface="Arial"/>
              </a:defRPr>
            </a:pPr>
            <a:r>
              <a:t>Kwara State Civil Service Commission (CSC) • 2026 Promotion Evaluation CBT Examination Guide</a:t>
            </a:r>
          </a:p>
        </p:txBody>
      </p:sp>
      <p:pic>
        <p:nvPicPr>
          <p:cNvPr id="7" name="Picture 6" descr="stage3_exam_screen.png"/>
          <p:cNvPicPr>
            <a:picLocks noChangeAspect="1"/>
          </p:cNvPicPr>
          <p:nvPr/>
        </p:nvPicPr>
        <p:blipFill>
          <a:blip r:embed="rId3"/>
          <a:stretch>
            <a:fillRect/>
          </a:stretch>
        </p:blipFill>
        <p:spPr>
          <a:xfrm>
            <a:off x="548640" y="1280160"/>
            <a:ext cx="6583680" cy="4217670"/>
          </a:xfrm>
          <a:prstGeom prst="rect">
            <a:avLst/>
          </a:prstGeom>
        </p:spPr>
      </p:pic>
      <p:sp>
        <p:nvSpPr>
          <p:cNvPr id="8" name="Rounded Rectangle 7"/>
          <p:cNvSpPr/>
          <p:nvPr/>
        </p:nvSpPr>
        <p:spPr>
          <a:xfrm>
            <a:off x="7315200" y="1280160"/>
            <a:ext cx="4327855" cy="4983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04D40"/>
                </a:solidFill>
                <a:latin typeface="Arial"/>
              </a:defRPr>
            </a:pPr>
            <a:r>
              <a:t>🖥️ EXAM SCREEN ELEMENTS</a:t>
            </a:r>
          </a:p>
          <a:p>
            <a:pPr>
              <a:defRPr sz="1000" b="1">
                <a:solidFill>
                  <a:srgbClr val="1E293B"/>
                </a:solidFill>
                <a:latin typeface="Arial"/>
              </a:defRPr>
            </a:pPr>
            <a:r>
              <a:t>• Candidate Profile Header: </a:t>
            </a:r>
            <a:r>
              <a:rPr b="0">
                <a:solidFill>
                  <a:srgbClr val="64748B"/>
                </a:solidFill>
              </a:rPr>
              <a:t>Displays your name, PSN, paper code, and profile initials so you always know you are in your authorized session.</a:t>
            </a:r>
          </a:p>
          <a:p>
            <a:pPr>
              <a:defRPr sz="1000" b="1">
                <a:solidFill>
                  <a:srgbClr val="1E293B"/>
                </a:solidFill>
                <a:latin typeface="Arial"/>
              </a:defRPr>
            </a:pPr>
            <a:r>
              <a:t>• Live Countdown Timer: </a:t>
            </a:r>
            <a:r>
              <a:rPr b="0">
                <a:solidFill>
                  <a:srgbClr val="64748B"/>
                </a:solidFill>
              </a:rPr>
              <a:t>Shows your remaining time in minutes and seconds (e.g. 14:32). Changes to amber at 5 minutes and red at 1 minute.</a:t>
            </a:r>
          </a:p>
          <a:p>
            <a:pPr>
              <a:defRPr sz="1000" b="1">
                <a:solidFill>
                  <a:srgbClr val="1E293B"/>
                </a:solidFill>
                <a:latin typeface="Arial"/>
              </a:defRPr>
            </a:pPr>
            <a:r>
              <a:t>• Proctor Protected Shield: </a:t>
            </a:r>
            <a:r>
              <a:rPr b="0">
                <a:solidFill>
                  <a:srgbClr val="64748B"/>
                </a:solidFill>
              </a:rPr>
              <a:t>Indicates the background anti-cheating monitor is actively securing your test.</a:t>
            </a:r>
          </a:p>
          <a:p>
            <a:pPr>
              <a:defRPr sz="1000" b="1">
                <a:solidFill>
                  <a:srgbClr val="1E293B"/>
                </a:solidFill>
                <a:latin typeface="Arial"/>
              </a:defRPr>
            </a:pPr>
            <a:r>
              <a:t>• Question Display Card: </a:t>
            </a:r>
            <a:r>
              <a:rPr b="0">
                <a:solidFill>
                  <a:srgbClr val="64748B"/>
                </a:solidFill>
              </a:rPr>
              <a:t>Clear, high-contrast question text with single-choice radio options (A, B, C, D).</a:t>
            </a:r>
          </a:p>
          <a:p>
            <a:pPr>
              <a:defRPr sz="1000" b="1">
                <a:solidFill>
                  <a:srgbClr val="1E293B"/>
                </a:solidFill>
                <a:latin typeface="Arial"/>
              </a:defRPr>
            </a:pPr>
            <a:r>
              <a:t>• Instant Auto-Save: </a:t>
            </a:r>
            <a:r>
              <a:rPr b="0">
                <a:solidFill>
                  <a:srgbClr val="64748B"/>
                </a:solidFill>
              </a:rPr>
              <a:t>Every time you click an option, it is instantly recorded in browser memory and local cache.</a:t>
            </a:r>
          </a:p>
          <a:p>
            <a:br/>
            <a:pPr>
              <a:defRPr sz="1000" b="1">
                <a:solidFill>
                  <a:srgbClr val="D97706"/>
                </a:solidFill>
                <a:latin typeface="Arial"/>
              </a:defRPr>
            </a:pPr>
            <a:r>
              <a:t>⏱️ TIMER BEHAVIOR:</a:t>
            </a:r>
          </a:p>
          <a:p>
            <a:pPr>
              <a:defRPr sz="950">
                <a:solidFill>
                  <a:srgbClr val="1E293B"/>
                </a:solidFill>
                <a:latin typeface="Arial"/>
              </a:defRPr>
            </a:pPr>
            <a:r>
              <a:t>When time reaches 00:00, the system automatically finalizes and submits all chosen answers. You will never lose any answer you selected.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4D40"/>
          </a:solidFill>
          <a:ln>
            <a:solidFill>
              <a:srgbClr val="004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365760" y="109728"/>
            <a:ext cx="822960" cy="822960"/>
          </a:xfrm>
          <a:prstGeom prst="rect">
            <a:avLst/>
          </a:prstGeom>
        </p:spPr>
      </p:pic>
      <p:sp>
        <p:nvSpPr>
          <p:cNvPr id="4" name="TextBox 3"/>
          <p:cNvSpPr txBox="1"/>
          <p:nvPr/>
        </p:nvSpPr>
        <p:spPr>
          <a:xfrm>
            <a:off x="1325880" y="109728"/>
            <a:ext cx="8961120" cy="868680"/>
          </a:xfrm>
          <a:prstGeom prst="rect">
            <a:avLst/>
          </a:prstGeom>
          <a:noFill/>
        </p:spPr>
        <p:txBody>
          <a:bodyPr wrap="square" lIns="0" tIns="0" rIns="0" bIns="0">
            <a:spAutoFit/>
          </a:bodyPr>
          <a:lstStyle/>
          <a:p>
            <a:pPr>
              <a:defRPr sz="950" b="1">
                <a:solidFill>
                  <a:srgbClr val="A7F3D0"/>
                </a:solidFill>
                <a:latin typeface="Arial"/>
              </a:defRPr>
            </a:pPr>
            <a:r>
              <a:t>STAGE 3 (CONT.)</a:t>
            </a:r>
          </a:p>
          <a:p>
            <a:pPr>
              <a:defRPr sz="1700" b="1">
                <a:solidFill>
                  <a:srgbClr val="FFFFFF"/>
                </a:solidFill>
                <a:latin typeface="Arial"/>
              </a:defRPr>
            </a:pPr>
            <a:r>
              <a:t>Question Grid (40) &amp; Navigation Controls</a:t>
            </a:r>
          </a:p>
        </p:txBody>
      </p:sp>
      <p:sp>
        <p:nvSpPr>
          <p:cNvPr id="5" name="Rounded Rectangle 4"/>
          <p:cNvSpPr/>
          <p:nvPr/>
        </p:nvSpPr>
        <p:spPr>
          <a:xfrm>
            <a:off x="10424160" y="320040"/>
            <a:ext cx="1371600" cy="411480"/>
          </a:xfrm>
          <a:prstGeom prst="roundRect">
            <a:avLst/>
          </a:prstGeom>
          <a:solidFill>
            <a:srgbClr val="00796B"/>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Stage 3B</a:t>
            </a:r>
          </a:p>
        </p:txBody>
      </p:sp>
      <p:sp>
        <p:nvSpPr>
          <p:cNvPr id="6" name="TextBox 5"/>
          <p:cNvSpPr txBox="1"/>
          <p:nvPr/>
        </p:nvSpPr>
        <p:spPr>
          <a:xfrm>
            <a:off x="548640" y="6473952"/>
            <a:ext cx="11094415" cy="320040"/>
          </a:xfrm>
          <a:prstGeom prst="rect">
            <a:avLst/>
          </a:prstGeom>
          <a:noFill/>
        </p:spPr>
        <p:txBody>
          <a:bodyPr wrap="none">
            <a:spAutoFit/>
          </a:bodyPr>
          <a:lstStyle/>
          <a:p>
            <a:pPr>
              <a:defRPr sz="900">
                <a:solidFill>
                  <a:srgbClr val="64748B"/>
                </a:solidFill>
                <a:latin typeface="Arial"/>
              </a:defRPr>
            </a:pPr>
            <a:r>
              <a:t>Kwara State Civil Service Commission (CSC) • 2026 Promotion Evaluation CBT Examination Guide</a:t>
            </a:r>
          </a:p>
        </p:txBody>
      </p:sp>
      <p:pic>
        <p:nvPicPr>
          <p:cNvPr id="7" name="Picture 6" descr="stage3_exam_screen.png"/>
          <p:cNvPicPr>
            <a:picLocks noChangeAspect="1"/>
          </p:cNvPicPr>
          <p:nvPr/>
        </p:nvPicPr>
        <p:blipFill>
          <a:blip r:embed="rId3"/>
          <a:stretch>
            <a:fillRect/>
          </a:stretch>
        </p:blipFill>
        <p:spPr>
          <a:xfrm>
            <a:off x="548640" y="1280160"/>
            <a:ext cx="6583680" cy="4217670"/>
          </a:xfrm>
          <a:prstGeom prst="rect">
            <a:avLst/>
          </a:prstGeom>
        </p:spPr>
      </p:pic>
      <p:sp>
        <p:nvSpPr>
          <p:cNvPr id="8" name="Rounded Rectangle 7"/>
          <p:cNvSpPr/>
          <p:nvPr/>
        </p:nvSpPr>
        <p:spPr>
          <a:xfrm>
            <a:off x="7315200" y="1280160"/>
            <a:ext cx="4327855" cy="4983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a:lstStyle/>
          <a:p>
            <a:pPr algn="ctr">
              <a:defRPr sz="1350" b="1">
                <a:solidFill>
                  <a:srgbClr val="004D40"/>
                </a:solidFill>
                <a:latin typeface="Arial"/>
              </a:defRPr>
            </a:pPr>
            <a:r>
              <a:t>🎯 PALETTE COLOR CODES &amp; BUTTONS</a:t>
            </a:r>
          </a:p>
          <a:p>
            <a:pPr>
              <a:defRPr sz="950" b="1">
                <a:solidFill>
                  <a:srgbClr val="1E293B"/>
                </a:solidFill>
                <a:latin typeface="Arial"/>
              </a:defRPr>
            </a:pPr>
            <a:r>
              <a:t>🟩 GREEN SQUARE (Answered Question): </a:t>
            </a:r>
            <a:r>
              <a:rPr b="0">
                <a:solidFill>
                  <a:srgbClr val="64748B"/>
                </a:solidFill>
              </a:rPr>
              <a:t>Indicates that you have successfully selected an option for that question number.</a:t>
            </a:r>
          </a:p>
          <a:p>
            <a:pPr>
              <a:defRPr sz="950" b="1">
                <a:solidFill>
                  <a:srgbClr val="1E293B"/>
                </a:solidFill>
                <a:latin typeface="Arial"/>
              </a:defRPr>
            </a:pPr>
            <a:r>
              <a:t>🟪 PURPLE SQUARE (Flagged for Review): </a:t>
            </a:r>
            <a:r>
              <a:rPr b="0">
                <a:solidFill>
                  <a:srgbClr val="64748B"/>
                </a:solidFill>
              </a:rPr>
              <a:t>Bookmarked so you can quickly return to it before submitting.</a:t>
            </a:r>
          </a:p>
          <a:p>
            <a:pPr>
              <a:defRPr sz="950" b="1">
                <a:solidFill>
                  <a:srgbClr val="1E293B"/>
                </a:solidFill>
                <a:latin typeface="Arial"/>
              </a:defRPr>
            </a:pPr>
            <a:r>
              <a:t>⬜ GRAY SQUARE (Unanswered Question): </a:t>
            </a:r>
            <a:r>
              <a:rPr b="0">
                <a:solidFill>
                  <a:srgbClr val="64748B"/>
                </a:solidFill>
              </a:rPr>
              <a:t>Indicates questions you have not yet answered. You must aim to turn all 40 squares green!</a:t>
            </a:r>
          </a:p>
          <a:p>
            <a:pPr>
              <a:defRPr sz="950" b="1">
                <a:solidFill>
                  <a:srgbClr val="1E293B"/>
                </a:solidFill>
                <a:latin typeface="Arial"/>
              </a:defRPr>
            </a:pPr>
            <a:r>
              <a:t>🔘 JUMP TO QUESTION (Direct Grid Navigation): </a:t>
            </a:r>
            <a:r>
              <a:rPr b="0">
                <a:solidFill>
                  <a:srgbClr val="64748B"/>
                </a:solidFill>
              </a:rPr>
              <a:t>Click ANY number (1 to 40) on the grid to jump directly to that question instantly.</a:t>
            </a:r>
          </a:p>
          <a:p>
            <a:pPr>
              <a:defRPr sz="950" b="1">
                <a:solidFill>
                  <a:srgbClr val="1E293B"/>
                </a:solidFill>
                <a:latin typeface="Arial"/>
              </a:defRPr>
            </a:pPr>
            <a:r>
              <a:t>✖ CLEAR CHOICE (Remove Selection): </a:t>
            </a:r>
            <a:r>
              <a:rPr b="0">
                <a:solidFill>
                  <a:srgbClr val="64748B"/>
                </a:solidFill>
              </a:rPr>
              <a:t>Allows you to deselect your answer if you want to leave it unselected.</a:t>
            </a:r>
          </a:p>
          <a:p>
            <a:pPr>
              <a:defRPr sz="950" b="1">
                <a:solidFill>
                  <a:srgbClr val="1E293B"/>
                </a:solidFill>
                <a:latin typeface="Arial"/>
              </a:defRPr>
            </a:pPr>
            <a:r>
              <a:t>⚑ FLAG FOR REVIEW (Mark Difficult Questions): </a:t>
            </a:r>
            <a:r>
              <a:rPr b="0">
                <a:solidFill>
                  <a:srgbClr val="64748B"/>
                </a:solidFill>
              </a:rPr>
              <a:t>Bookmarks the question so you can move forward and return later.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4D40"/>
          </a:solidFill>
          <a:ln>
            <a:solidFill>
              <a:srgbClr val="004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365760" y="109728"/>
            <a:ext cx="822960" cy="822960"/>
          </a:xfrm>
          <a:prstGeom prst="rect">
            <a:avLst/>
          </a:prstGeom>
        </p:spPr>
      </p:pic>
      <p:sp>
        <p:nvSpPr>
          <p:cNvPr id="4" name="TextBox 3"/>
          <p:cNvSpPr txBox="1"/>
          <p:nvPr/>
        </p:nvSpPr>
        <p:spPr>
          <a:xfrm>
            <a:off x="1325880" y="109728"/>
            <a:ext cx="8961120" cy="868680"/>
          </a:xfrm>
          <a:prstGeom prst="rect">
            <a:avLst/>
          </a:prstGeom>
          <a:noFill/>
        </p:spPr>
        <p:txBody>
          <a:bodyPr wrap="square" lIns="0" tIns="0" rIns="0" bIns="0">
            <a:spAutoFit/>
          </a:bodyPr>
          <a:lstStyle/>
          <a:p>
            <a:pPr>
              <a:defRPr sz="950" b="1">
                <a:solidFill>
                  <a:srgbClr val="A7F3D0"/>
                </a:solidFill>
                <a:latin typeface="Arial"/>
              </a:defRPr>
            </a:pPr>
            <a:r>
              <a:t>STAGE 4 OF 7</a:t>
            </a:r>
          </a:p>
          <a:p>
            <a:pPr>
              <a:defRPr sz="1700" b="1">
                <a:solidFill>
                  <a:srgbClr val="FFFFFF"/>
                </a:solidFill>
                <a:latin typeface="Arial"/>
              </a:defRPr>
            </a:pPr>
            <a:r>
              <a:t>Anti-Cheating &amp; Proctored Blackout Curtain</a:t>
            </a:r>
          </a:p>
        </p:txBody>
      </p:sp>
      <p:sp>
        <p:nvSpPr>
          <p:cNvPr id="5" name="Rounded Rectangle 4"/>
          <p:cNvSpPr/>
          <p:nvPr/>
        </p:nvSpPr>
        <p:spPr>
          <a:xfrm>
            <a:off x="10424160" y="320040"/>
            <a:ext cx="1371600" cy="411480"/>
          </a:xfrm>
          <a:prstGeom prst="roundRect">
            <a:avLst/>
          </a:prstGeom>
          <a:solidFill>
            <a:srgbClr val="00796B"/>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Stage 4</a:t>
            </a:r>
          </a:p>
        </p:txBody>
      </p:sp>
      <p:sp>
        <p:nvSpPr>
          <p:cNvPr id="6" name="TextBox 5"/>
          <p:cNvSpPr txBox="1"/>
          <p:nvPr/>
        </p:nvSpPr>
        <p:spPr>
          <a:xfrm>
            <a:off x="548640" y="6473952"/>
            <a:ext cx="11094415" cy="320040"/>
          </a:xfrm>
          <a:prstGeom prst="rect">
            <a:avLst/>
          </a:prstGeom>
          <a:noFill/>
        </p:spPr>
        <p:txBody>
          <a:bodyPr wrap="none">
            <a:spAutoFit/>
          </a:bodyPr>
          <a:lstStyle/>
          <a:p>
            <a:pPr>
              <a:defRPr sz="900">
                <a:solidFill>
                  <a:srgbClr val="64748B"/>
                </a:solidFill>
                <a:latin typeface="Arial"/>
              </a:defRPr>
            </a:pPr>
            <a:r>
              <a:t>Kwara State Civil Service Commission (CSC) • 2026 Promotion Evaluation CBT Examination Guide</a:t>
            </a:r>
          </a:p>
        </p:txBody>
      </p:sp>
      <p:pic>
        <p:nvPicPr>
          <p:cNvPr id="7" name="Picture 6" descr="stage4_blackout_curtain.png"/>
          <p:cNvPicPr>
            <a:picLocks noChangeAspect="1"/>
          </p:cNvPicPr>
          <p:nvPr/>
        </p:nvPicPr>
        <p:blipFill>
          <a:blip r:embed="rId3"/>
          <a:stretch>
            <a:fillRect/>
          </a:stretch>
        </p:blipFill>
        <p:spPr>
          <a:xfrm>
            <a:off x="548640" y="1280160"/>
            <a:ext cx="6583680" cy="4217670"/>
          </a:xfrm>
          <a:prstGeom prst="rect">
            <a:avLst/>
          </a:prstGeom>
        </p:spPr>
      </p:pic>
      <p:sp>
        <p:nvSpPr>
          <p:cNvPr id="8" name="Rounded Rectangle 7"/>
          <p:cNvSpPr/>
          <p:nvPr/>
        </p:nvSpPr>
        <p:spPr>
          <a:xfrm>
            <a:off x="7315200" y="1280160"/>
            <a:ext cx="4327855" cy="4983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DC2626"/>
                </a:solidFill>
                <a:latin typeface="Arial"/>
              </a:defRPr>
            </a:pPr>
            <a:r>
              <a:t>🛡️ THE BLACKOUT CURTAIN</a:t>
            </a:r>
          </a:p>
          <a:p>
            <a:pPr>
              <a:defRPr sz="1000" b="1">
                <a:solidFill>
                  <a:srgbClr val="1E293B"/>
                </a:solidFill>
                <a:latin typeface="Arial"/>
              </a:defRPr>
            </a:pPr>
            <a:r>
              <a:t>• What Triggers the Curtain?: </a:t>
            </a:r>
            <a:r>
              <a:rPr b="0">
                <a:solidFill>
                  <a:srgbClr val="64748B"/>
                </a:solidFill>
              </a:rPr>
              <a:t>Switching to another browser tab, opening another app, minimizing the browser window, or answering phone calls.</a:t>
            </a:r>
          </a:p>
          <a:p>
            <a:pPr>
              <a:defRPr sz="1000" b="1">
                <a:solidFill>
                  <a:srgbClr val="1E293B"/>
                </a:solidFill>
                <a:latin typeface="Arial"/>
              </a:defRPr>
            </a:pPr>
            <a:r>
              <a:t>• What Happens Instantly?: </a:t>
            </a:r>
            <a:r>
              <a:rPr b="0">
                <a:solidFill>
                  <a:srgbClr val="64748B"/>
                </a:solidFill>
              </a:rPr>
              <a:t>The exam interface is immediately blacked out. Questions are hidden to prevent external viewing or search.</a:t>
            </a:r>
          </a:p>
          <a:p>
            <a:pPr>
              <a:defRPr sz="1000" b="1">
                <a:solidFill>
                  <a:srgbClr val="1E293B"/>
                </a:solidFill>
                <a:latin typeface="Arial"/>
              </a:defRPr>
            </a:pPr>
            <a:r>
              <a:t>• How to Recover?: </a:t>
            </a:r>
            <a:r>
              <a:rPr b="0">
                <a:solidFill>
                  <a:srgbClr val="64748B"/>
                </a:solidFill>
              </a:rPr>
              <a:t>Click anywhere on the black curtain to refocus the exam window immediately.</a:t>
            </a:r>
          </a:p>
          <a:p>
            <a:pPr>
              <a:defRPr sz="1000" b="1">
                <a:solidFill>
                  <a:srgbClr val="1E293B"/>
                </a:solidFill>
                <a:latin typeface="Arial"/>
              </a:defRPr>
            </a:pPr>
            <a:r>
              <a:t>• Consequence of Curtain Activation?: </a:t>
            </a:r>
            <a:r>
              <a:rPr b="0">
                <a:solidFill>
                  <a:srgbClr val="64748B"/>
                </a:solidFill>
              </a:rPr>
              <a:t>Refocusing will trigger the official Security Violation Warning Modal.</a:t>
            </a:r>
          </a:p>
          <a:p>
            <a:br/>
            <a:pPr>
              <a:defRPr sz="1000" b="1">
                <a:solidFill>
                  <a:srgbClr val="DC2626"/>
                </a:solidFill>
                <a:latin typeface="Arial"/>
              </a:defRPr>
            </a:pPr>
            <a:r>
              <a:t>🚫 STRICTLY PROHIBITED SHORTCUTS:</a:t>
            </a:r>
          </a:p>
          <a:p>
            <a:pPr>
              <a:defRPr sz="950">
                <a:solidFill>
                  <a:srgbClr val="1E293B"/>
                </a:solidFill>
                <a:latin typeface="Arial"/>
              </a:defRPr>
            </a:pPr>
            <a:r>
              <a:t>PrintScreen, Win+Shift+S, Cmd+Shift+3/4, Ctrl+P (Print), Ctrl+S (Save), F12 (DevTools), right-click, and text copying are locked and permanently logged.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4D40"/>
          </a:solidFill>
          <a:ln>
            <a:solidFill>
              <a:srgbClr val="004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365760" y="109728"/>
            <a:ext cx="822960" cy="822960"/>
          </a:xfrm>
          <a:prstGeom prst="rect">
            <a:avLst/>
          </a:prstGeom>
        </p:spPr>
      </p:pic>
      <p:sp>
        <p:nvSpPr>
          <p:cNvPr id="4" name="TextBox 3"/>
          <p:cNvSpPr txBox="1"/>
          <p:nvPr/>
        </p:nvSpPr>
        <p:spPr>
          <a:xfrm>
            <a:off x="1325880" y="109728"/>
            <a:ext cx="8961120" cy="868680"/>
          </a:xfrm>
          <a:prstGeom prst="rect">
            <a:avLst/>
          </a:prstGeom>
          <a:noFill/>
        </p:spPr>
        <p:txBody>
          <a:bodyPr wrap="square" lIns="0" tIns="0" rIns="0" bIns="0">
            <a:spAutoFit/>
          </a:bodyPr>
          <a:lstStyle/>
          <a:p>
            <a:pPr>
              <a:defRPr sz="950" b="1">
                <a:solidFill>
                  <a:srgbClr val="A7F3D0"/>
                </a:solidFill>
                <a:latin typeface="Arial"/>
              </a:defRPr>
            </a:pPr>
            <a:r>
              <a:t>STAGE 5 OF 7</a:t>
            </a:r>
          </a:p>
          <a:p>
            <a:pPr>
              <a:defRPr sz="1700" b="1">
                <a:solidFill>
                  <a:srgbClr val="FFFFFF"/>
                </a:solidFill>
                <a:latin typeface="Arial"/>
              </a:defRPr>
            </a:pPr>
            <a:r>
              <a:t>Security Violation Warnings (3-Strike System)</a:t>
            </a:r>
          </a:p>
        </p:txBody>
      </p:sp>
      <p:sp>
        <p:nvSpPr>
          <p:cNvPr id="5" name="Rounded Rectangle 4"/>
          <p:cNvSpPr/>
          <p:nvPr/>
        </p:nvSpPr>
        <p:spPr>
          <a:xfrm>
            <a:off x="10424160" y="320040"/>
            <a:ext cx="1371600" cy="411480"/>
          </a:xfrm>
          <a:prstGeom prst="roundRect">
            <a:avLst/>
          </a:prstGeom>
          <a:solidFill>
            <a:srgbClr val="00796B"/>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Stage 5</a:t>
            </a:r>
          </a:p>
        </p:txBody>
      </p:sp>
      <p:sp>
        <p:nvSpPr>
          <p:cNvPr id="6" name="TextBox 5"/>
          <p:cNvSpPr txBox="1"/>
          <p:nvPr/>
        </p:nvSpPr>
        <p:spPr>
          <a:xfrm>
            <a:off x="548640" y="6473952"/>
            <a:ext cx="11094415" cy="320040"/>
          </a:xfrm>
          <a:prstGeom prst="rect">
            <a:avLst/>
          </a:prstGeom>
          <a:noFill/>
        </p:spPr>
        <p:txBody>
          <a:bodyPr wrap="none">
            <a:spAutoFit/>
          </a:bodyPr>
          <a:lstStyle/>
          <a:p>
            <a:pPr>
              <a:defRPr sz="900">
                <a:solidFill>
                  <a:srgbClr val="64748B"/>
                </a:solidFill>
                <a:latin typeface="Arial"/>
              </a:defRPr>
            </a:pPr>
            <a:r>
              <a:t>Kwara State Civil Service Commission (CSC) • 2026 Promotion Evaluation CBT Examination Guide</a:t>
            </a:r>
          </a:p>
        </p:txBody>
      </p:sp>
      <p:pic>
        <p:nvPicPr>
          <p:cNvPr id="7" name="Picture 6" descr="stage5_strike_warning.png"/>
          <p:cNvPicPr>
            <a:picLocks noChangeAspect="1"/>
          </p:cNvPicPr>
          <p:nvPr/>
        </p:nvPicPr>
        <p:blipFill>
          <a:blip r:embed="rId3"/>
          <a:stretch>
            <a:fillRect/>
          </a:stretch>
        </p:blipFill>
        <p:spPr>
          <a:xfrm>
            <a:off x="548640" y="1280160"/>
            <a:ext cx="6583680" cy="4217670"/>
          </a:xfrm>
          <a:prstGeom prst="rect">
            <a:avLst/>
          </a:prstGeom>
        </p:spPr>
      </p:pic>
      <p:sp>
        <p:nvSpPr>
          <p:cNvPr id="8" name="Rounded Rectangle 7"/>
          <p:cNvSpPr/>
          <p:nvPr/>
        </p:nvSpPr>
        <p:spPr>
          <a:xfrm>
            <a:off x="7315200" y="1280160"/>
            <a:ext cx="4327855" cy="4983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DC2626"/>
                </a:solidFill>
                <a:latin typeface="Arial"/>
              </a:defRPr>
            </a:pPr>
            <a:r>
              <a:t>🚨 THE 3-STRIKE PROGRESSION</a:t>
            </a:r>
          </a:p>
          <a:p>
            <a:pPr>
              <a:defRPr sz="1000" b="1">
                <a:solidFill>
                  <a:srgbClr val="1E293B"/>
                </a:solidFill>
                <a:latin typeface="Arial"/>
              </a:defRPr>
            </a:pPr>
            <a:r>
              <a:t>• STRIKE 1: Formal Warning: </a:t>
            </a:r>
            <a:r>
              <a:rPr b="0">
                <a:solidFill>
                  <a:srgbClr val="64748B"/>
                </a:solidFill>
              </a:rPr>
              <a:t>The warning modal pops up. Your incident is recorded with a timestamp on the server. You must click 'Return to Examination'.</a:t>
            </a:r>
          </a:p>
          <a:p>
            <a:pPr>
              <a:defRPr sz="1000" b="1">
                <a:solidFill>
                  <a:srgbClr val="1E293B"/>
                </a:solidFill>
                <a:latin typeface="Arial"/>
              </a:defRPr>
            </a:pPr>
            <a:r>
              <a:t>• STRIKE 2: Final Warning: </a:t>
            </a:r>
            <a:r>
              <a:rPr b="0">
                <a:solidFill>
                  <a:srgbClr val="64748B"/>
                </a:solidFill>
              </a:rPr>
              <a:t>A high-urgency red alert appears: 'You have only ONE warning remaining!'. Any further infraction will terminate the exam.</a:t>
            </a:r>
          </a:p>
          <a:p>
            <a:pPr>
              <a:defRPr sz="1000" b="1">
                <a:solidFill>
                  <a:srgbClr val="1E293B"/>
                </a:solidFill>
                <a:latin typeface="Arial"/>
              </a:defRPr>
            </a:pPr>
            <a:r>
              <a:t>• STRIKE 3: IMMEDIATE TERMINATION: </a:t>
            </a:r>
            <a:r>
              <a:rPr b="0">
                <a:solidFill>
                  <a:srgbClr val="64748B"/>
                </a:solidFill>
              </a:rPr>
              <a:t>Your test session ends instantly! The system auto-submits your answers and flags your file as 'DISQUALIFIED / TERMINATED'.</a:t>
            </a:r>
          </a:p>
          <a:p>
            <a:br/>
            <a:pPr>
              <a:defRPr sz="1000" b="1">
                <a:solidFill>
                  <a:srgbClr val="004D40"/>
                </a:solidFill>
                <a:latin typeface="Arial"/>
              </a:defRPr>
            </a:pPr>
            <a:r>
              <a:t>🛡️ WATERMARK AUDIT:</a:t>
            </a:r>
          </a:p>
          <a:p>
            <a:pPr>
              <a:defRPr sz="950">
                <a:solidFill>
                  <a:srgbClr val="1E293B"/>
                </a:solidFill>
                <a:latin typeface="Arial"/>
              </a:defRPr>
            </a:pPr>
            <a:r>
              <a:t>A forensic watermark with your PSN and timestamp is overlaid across the exam page. Attempting to photograph your screen with a second phone will be traced directly to your PSN.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4D40"/>
          </a:solidFill>
          <a:ln>
            <a:solidFill>
              <a:srgbClr val="004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365760" y="109728"/>
            <a:ext cx="822960" cy="822960"/>
          </a:xfrm>
          <a:prstGeom prst="rect">
            <a:avLst/>
          </a:prstGeom>
        </p:spPr>
      </p:pic>
      <p:sp>
        <p:nvSpPr>
          <p:cNvPr id="4" name="TextBox 3"/>
          <p:cNvSpPr txBox="1"/>
          <p:nvPr/>
        </p:nvSpPr>
        <p:spPr>
          <a:xfrm>
            <a:off x="1325880" y="109728"/>
            <a:ext cx="8961120" cy="868680"/>
          </a:xfrm>
          <a:prstGeom prst="rect">
            <a:avLst/>
          </a:prstGeom>
          <a:noFill/>
        </p:spPr>
        <p:txBody>
          <a:bodyPr wrap="square" lIns="0" tIns="0" rIns="0" bIns="0">
            <a:spAutoFit/>
          </a:bodyPr>
          <a:lstStyle/>
          <a:p>
            <a:pPr>
              <a:defRPr sz="950" b="1">
                <a:solidFill>
                  <a:srgbClr val="A7F3D0"/>
                </a:solidFill>
                <a:latin typeface="Arial"/>
              </a:defRPr>
            </a:pPr>
            <a:r>
              <a:t>STAGE 6 OF 7</a:t>
            </a:r>
          </a:p>
          <a:p>
            <a:pPr>
              <a:defRPr sz="1700" b="1">
                <a:solidFill>
                  <a:srgbClr val="FFFFFF"/>
                </a:solidFill>
                <a:latin typeface="Arial"/>
              </a:defRPr>
            </a:pPr>
            <a:r>
              <a:t>Incomplete Examination Check Before Submitting</a:t>
            </a:r>
          </a:p>
        </p:txBody>
      </p:sp>
      <p:sp>
        <p:nvSpPr>
          <p:cNvPr id="5" name="Rounded Rectangle 4"/>
          <p:cNvSpPr/>
          <p:nvPr/>
        </p:nvSpPr>
        <p:spPr>
          <a:xfrm>
            <a:off x="10424160" y="320040"/>
            <a:ext cx="1371600" cy="411480"/>
          </a:xfrm>
          <a:prstGeom prst="roundRect">
            <a:avLst/>
          </a:prstGeom>
          <a:solidFill>
            <a:srgbClr val="00796B"/>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Stage 6</a:t>
            </a:r>
          </a:p>
        </p:txBody>
      </p:sp>
      <p:sp>
        <p:nvSpPr>
          <p:cNvPr id="6" name="TextBox 5"/>
          <p:cNvSpPr txBox="1"/>
          <p:nvPr/>
        </p:nvSpPr>
        <p:spPr>
          <a:xfrm>
            <a:off x="548640" y="6473952"/>
            <a:ext cx="11094415" cy="320040"/>
          </a:xfrm>
          <a:prstGeom prst="rect">
            <a:avLst/>
          </a:prstGeom>
          <a:noFill/>
        </p:spPr>
        <p:txBody>
          <a:bodyPr wrap="none">
            <a:spAutoFit/>
          </a:bodyPr>
          <a:lstStyle/>
          <a:p>
            <a:pPr>
              <a:defRPr sz="900">
                <a:solidFill>
                  <a:srgbClr val="64748B"/>
                </a:solidFill>
                <a:latin typeface="Arial"/>
              </a:defRPr>
            </a:pPr>
            <a:r>
              <a:t>Kwara State Civil Service Commission (CSC) • 2026 Promotion Evaluation CBT Examination Guide</a:t>
            </a:r>
          </a:p>
        </p:txBody>
      </p:sp>
      <p:pic>
        <p:nvPicPr>
          <p:cNvPr id="7" name="Picture 6" descr="stage6_unanswered_modal.png"/>
          <p:cNvPicPr>
            <a:picLocks noChangeAspect="1"/>
          </p:cNvPicPr>
          <p:nvPr/>
        </p:nvPicPr>
        <p:blipFill>
          <a:blip r:embed="rId3"/>
          <a:stretch>
            <a:fillRect/>
          </a:stretch>
        </p:blipFill>
        <p:spPr>
          <a:xfrm>
            <a:off x="548640" y="1280160"/>
            <a:ext cx="6583680" cy="4217670"/>
          </a:xfrm>
          <a:prstGeom prst="rect">
            <a:avLst/>
          </a:prstGeom>
        </p:spPr>
      </p:pic>
      <p:sp>
        <p:nvSpPr>
          <p:cNvPr id="8" name="Rounded Rectangle 7"/>
          <p:cNvSpPr/>
          <p:nvPr/>
        </p:nvSpPr>
        <p:spPr>
          <a:xfrm>
            <a:off x="7315200" y="1280160"/>
            <a:ext cx="4327855" cy="4983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D97706"/>
                </a:solidFill>
                <a:latin typeface="Arial"/>
              </a:defRPr>
            </a:pPr>
            <a:r>
              <a:t>⚠️ ANSWER ALL 40 QUESTIONS</a:t>
            </a:r>
          </a:p>
          <a:p>
            <a:pPr>
              <a:defRPr sz="1000" b="1">
                <a:solidFill>
                  <a:srgbClr val="1E293B"/>
                </a:solidFill>
                <a:latin typeface="Arial"/>
              </a:defRPr>
            </a:pPr>
            <a:r>
              <a:t>• Incomplete Submission Modal: </a:t>
            </a:r>
            <a:r>
              <a:rPr b="0">
                <a:solidFill>
                  <a:srgbClr val="64748B"/>
                </a:solidFill>
              </a:rPr>
              <a:t>If you click 'Submit' while any question is still gray (unanswered), this dialog warns you immediately.</a:t>
            </a:r>
          </a:p>
          <a:p>
            <a:pPr>
              <a:defRPr sz="1000" b="1">
                <a:solidFill>
                  <a:srgbClr val="1E293B"/>
                </a:solidFill>
                <a:latin typeface="Arial"/>
              </a:defRPr>
            </a:pPr>
            <a:r>
              <a:t>• No Negative Marking: </a:t>
            </a:r>
            <a:r>
              <a:rPr b="0">
                <a:solidFill>
                  <a:srgbClr val="64748B"/>
                </a:solidFill>
              </a:rPr>
              <a:t>There is no penalty for guessing. An unanswered question receives zero marks, whereas an educated attempt could earn you a full mark.</a:t>
            </a:r>
          </a:p>
          <a:p>
            <a:pPr>
              <a:defRPr sz="1000" b="1">
                <a:solidFill>
                  <a:srgbClr val="1E293B"/>
                </a:solidFill>
                <a:latin typeface="Arial"/>
              </a:defRPr>
            </a:pPr>
            <a:r>
              <a:t>• Check the Palette: </a:t>
            </a:r>
            <a:r>
              <a:rPr b="0">
                <a:solidFill>
                  <a:srgbClr val="64748B"/>
                </a:solidFill>
              </a:rPr>
              <a:t>Look for any remaining gray squares. Tap on each gray square to answer it.</a:t>
            </a:r>
          </a:p>
          <a:p>
            <a:pPr>
              <a:defRPr sz="1000" b="1">
                <a:solidFill>
                  <a:srgbClr val="1E293B"/>
                </a:solidFill>
                <a:latin typeface="Arial"/>
              </a:defRPr>
            </a:pPr>
            <a:r>
              <a:t>• Recommended Action: </a:t>
            </a:r>
            <a:r>
              <a:rPr b="0">
                <a:solidFill>
                  <a:srgbClr val="64748B"/>
                </a:solidFill>
              </a:rPr>
              <a:t>Click 'Return to Exam &amp; Answer All Questions' to maximize your score potential before your 20 minutes expire.</a:t>
            </a:r>
          </a:p>
          <a:p>
            <a:br/>
            <a:pPr>
              <a:defRPr sz="1000" b="1">
                <a:solidFill>
                  <a:srgbClr val="10B981"/>
                </a:solidFill>
                <a:latin typeface="Arial"/>
              </a:defRPr>
            </a:pPr>
            <a:r>
              <a:t>💡 GOLDEN RULE:</a:t>
            </a:r>
          </a:p>
          <a:p>
            <a:pPr>
              <a:defRPr sz="1050" b="1">
                <a:solidFill>
                  <a:srgbClr val="004D40"/>
                </a:solidFill>
                <a:latin typeface="Arial"/>
              </a:defRPr>
            </a:pPr>
            <a:r>
              <a:t>Never leave any question blank! Turn all 40 boxes GREEN before clicking Submit.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4D40"/>
          </a:solidFill>
          <a:ln>
            <a:solidFill>
              <a:srgbClr val="004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365760" y="109728"/>
            <a:ext cx="822960" cy="822960"/>
          </a:xfrm>
          <a:prstGeom prst="rect">
            <a:avLst/>
          </a:prstGeom>
        </p:spPr>
      </p:pic>
      <p:sp>
        <p:nvSpPr>
          <p:cNvPr id="4" name="TextBox 3"/>
          <p:cNvSpPr txBox="1"/>
          <p:nvPr/>
        </p:nvSpPr>
        <p:spPr>
          <a:xfrm>
            <a:off x="1325880" y="109728"/>
            <a:ext cx="8961120" cy="868680"/>
          </a:xfrm>
          <a:prstGeom prst="rect">
            <a:avLst/>
          </a:prstGeom>
          <a:noFill/>
        </p:spPr>
        <p:txBody>
          <a:bodyPr wrap="square" lIns="0" tIns="0" rIns="0" bIns="0">
            <a:spAutoFit/>
          </a:bodyPr>
          <a:lstStyle/>
          <a:p>
            <a:pPr>
              <a:defRPr sz="950" b="1">
                <a:solidFill>
                  <a:srgbClr val="A7F3D0"/>
                </a:solidFill>
                <a:latin typeface="Arial"/>
              </a:defRPr>
            </a:pPr>
            <a:r>
              <a:t>STAGE 7 OF 7</a:t>
            </a:r>
          </a:p>
          <a:p>
            <a:pPr>
              <a:defRPr sz="1700" b="1">
                <a:solidFill>
                  <a:srgbClr val="FFFFFF"/>
                </a:solidFill>
                <a:latin typeface="Arial"/>
              </a:defRPr>
            </a:pPr>
            <a:r>
              <a:t>Official Submission Acknowledgement Slip</a:t>
            </a:r>
          </a:p>
        </p:txBody>
      </p:sp>
      <p:sp>
        <p:nvSpPr>
          <p:cNvPr id="5" name="Rounded Rectangle 4"/>
          <p:cNvSpPr/>
          <p:nvPr/>
        </p:nvSpPr>
        <p:spPr>
          <a:xfrm>
            <a:off x="10424160" y="320040"/>
            <a:ext cx="1371600" cy="411480"/>
          </a:xfrm>
          <a:prstGeom prst="roundRect">
            <a:avLst/>
          </a:prstGeom>
          <a:solidFill>
            <a:srgbClr val="00796B"/>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Stage 7</a:t>
            </a:r>
          </a:p>
        </p:txBody>
      </p:sp>
      <p:sp>
        <p:nvSpPr>
          <p:cNvPr id="6" name="TextBox 5"/>
          <p:cNvSpPr txBox="1"/>
          <p:nvPr/>
        </p:nvSpPr>
        <p:spPr>
          <a:xfrm>
            <a:off x="548640" y="6473952"/>
            <a:ext cx="11094415" cy="320040"/>
          </a:xfrm>
          <a:prstGeom prst="rect">
            <a:avLst/>
          </a:prstGeom>
          <a:noFill/>
        </p:spPr>
        <p:txBody>
          <a:bodyPr wrap="none">
            <a:spAutoFit/>
          </a:bodyPr>
          <a:lstStyle/>
          <a:p>
            <a:pPr>
              <a:defRPr sz="900">
                <a:solidFill>
                  <a:srgbClr val="64748B"/>
                </a:solidFill>
                <a:latin typeface="Arial"/>
              </a:defRPr>
            </a:pPr>
            <a:r>
              <a:t>Kwara State Civil Service Commission (CSC) • 2026 Promotion Evaluation CBT Examination Guide</a:t>
            </a:r>
          </a:p>
        </p:txBody>
      </p:sp>
      <p:pic>
        <p:nvPicPr>
          <p:cNvPr id="7" name="Picture 6" descr="stage7_submission_slip.png"/>
          <p:cNvPicPr>
            <a:picLocks noChangeAspect="1"/>
          </p:cNvPicPr>
          <p:nvPr/>
        </p:nvPicPr>
        <p:blipFill>
          <a:blip r:embed="rId3"/>
          <a:stretch>
            <a:fillRect/>
          </a:stretch>
        </p:blipFill>
        <p:spPr>
          <a:xfrm>
            <a:off x="548640" y="1280160"/>
            <a:ext cx="6583680" cy="4217670"/>
          </a:xfrm>
          <a:prstGeom prst="rect">
            <a:avLst/>
          </a:prstGeom>
        </p:spPr>
      </p:pic>
      <p:sp>
        <p:nvSpPr>
          <p:cNvPr id="8" name="Rounded Rectangle 7"/>
          <p:cNvSpPr/>
          <p:nvPr/>
        </p:nvSpPr>
        <p:spPr>
          <a:xfrm>
            <a:off x="7315200" y="1280160"/>
            <a:ext cx="4327855" cy="4983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04D40"/>
                </a:solidFill>
                <a:latin typeface="Arial"/>
              </a:defRPr>
            </a:pPr>
            <a:r>
              <a:t>📄 WHAT YOUR SLIP SHOWS</a:t>
            </a:r>
          </a:p>
          <a:p>
            <a:pPr>
              <a:defRPr sz="1000" b="1">
                <a:solidFill>
                  <a:srgbClr val="1E293B"/>
                </a:solidFill>
                <a:latin typeface="Arial"/>
              </a:defRPr>
            </a:pPr>
            <a:r>
              <a:t>✔ Recorded &amp; Locked Status: </a:t>
            </a:r>
            <a:r>
              <a:rPr b="0">
                <a:solidFill>
                  <a:srgbClr val="64748B"/>
                </a:solidFill>
              </a:rPr>
              <a:t>Confirms that your 40 answers have been securely received in the Commission database.</a:t>
            </a:r>
          </a:p>
          <a:p>
            <a:pPr>
              <a:defRPr sz="1000" b="1">
                <a:solidFill>
                  <a:srgbClr val="1E293B"/>
                </a:solidFill>
                <a:latin typeface="Arial"/>
              </a:defRPr>
            </a:pPr>
            <a:r>
              <a:t>✔ Candidate Audit Details: </a:t>
            </a:r>
            <a:r>
              <a:rPr b="0">
                <a:solidFill>
                  <a:srgbClr val="64748B"/>
                </a:solidFill>
              </a:rPr>
              <a:t>Displays Officer Name, PSN, MDA, Grade Level, Paper Code, Time Spent, and exact Submission Date &amp; Time.</a:t>
            </a:r>
          </a:p>
          <a:p>
            <a:pPr>
              <a:defRPr sz="1000" b="1">
                <a:solidFill>
                  <a:srgbClr val="1E293B"/>
                </a:solidFill>
                <a:latin typeface="Arial"/>
              </a:defRPr>
            </a:pPr>
            <a:r>
              <a:t>✔ Electronic Reference Code: </a:t>
            </a:r>
            <a:r>
              <a:rPr b="0">
                <a:solidFill>
                  <a:srgbClr val="64748B"/>
                </a:solidFill>
              </a:rPr>
              <a:t>A unique tracking code (e.g. Ref: KWS-CSC-SUB-01048-123456) verifying your submission integrity.</a:t>
            </a:r>
          </a:p>
          <a:p>
            <a:pPr>
              <a:defRPr sz="1000" b="1">
                <a:solidFill>
                  <a:srgbClr val="1E293B"/>
                </a:solidFill>
                <a:latin typeface="Arial"/>
              </a:defRPr>
            </a:pPr>
            <a:r>
              <a:t>✔ Print Acknowledgement Slip: </a:t>
            </a:r>
            <a:r>
              <a:rPr b="0">
                <a:solidFill>
                  <a:srgbClr val="64748B"/>
                </a:solidFill>
              </a:rPr>
              <a:t>Click the green 'Print Acknowledgement Slip (PDF)' button to save or print a copy for your records.</a:t>
            </a:r>
          </a:p>
          <a:p>
            <a:pPr>
              <a:defRPr sz="1000" b="1">
                <a:solidFill>
                  <a:srgbClr val="1E293B"/>
                </a:solidFill>
                <a:latin typeface="Arial"/>
              </a:defRPr>
            </a:pPr>
            <a:r>
              <a:t>✔ Session Concluded: </a:t>
            </a:r>
            <a:r>
              <a:rPr b="0">
                <a:solidFill>
                  <a:srgbClr val="64748B"/>
                </a:solidFill>
              </a:rPr>
              <a:t>Your access code is deactivated. Retakes or additional attempts are strictly prohibited.</a:t>
            </a:r>
          </a:p>
          <a:p>
            <a:br/>
            <a:pPr>
              <a:defRPr sz="1000" b="1">
                <a:solidFill>
                  <a:srgbClr val="004D40"/>
                </a:solidFill>
                <a:latin typeface="Arial"/>
              </a:defRPr>
            </a:pPr>
            <a:r>
              <a:t>🔒 ZERO SCORES DISPLAYED:</a:t>
            </a:r>
          </a:p>
          <a:p>
            <a:pPr>
              <a:defRPr sz="950">
                <a:solidFill>
                  <a:srgbClr val="64748B"/>
                </a:solidFill>
                <a:latin typeface="Arial"/>
              </a:defRPr>
            </a:pPr>
            <a:r>
              <a:t>Notice that no numerical score or percentage appears on this slip. This is by design per Commission policy.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4D40"/>
          </a:solidFill>
          <a:ln>
            <a:solidFill>
              <a:srgbClr val="004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365760" y="109728"/>
            <a:ext cx="822960" cy="822960"/>
          </a:xfrm>
          <a:prstGeom prst="rect">
            <a:avLst/>
          </a:prstGeom>
        </p:spPr>
      </p:pic>
      <p:sp>
        <p:nvSpPr>
          <p:cNvPr id="4" name="TextBox 3"/>
          <p:cNvSpPr txBox="1"/>
          <p:nvPr/>
        </p:nvSpPr>
        <p:spPr>
          <a:xfrm>
            <a:off x="1325880" y="109728"/>
            <a:ext cx="8961120" cy="868680"/>
          </a:xfrm>
          <a:prstGeom prst="rect">
            <a:avLst/>
          </a:prstGeom>
          <a:noFill/>
        </p:spPr>
        <p:txBody>
          <a:bodyPr wrap="square" lIns="0" tIns="0" rIns="0" bIns="0">
            <a:spAutoFit/>
          </a:bodyPr>
          <a:lstStyle/>
          <a:p>
            <a:pPr>
              <a:defRPr sz="950" b="1">
                <a:solidFill>
                  <a:srgbClr val="A7F3D0"/>
                </a:solidFill>
                <a:latin typeface="Arial"/>
              </a:defRPr>
            </a:pPr>
            <a:r>
              <a:t>COMMISSION POLICY</a:t>
            </a:r>
          </a:p>
          <a:p>
            <a:pPr>
              <a:defRPr sz="1700" b="1">
                <a:solidFill>
                  <a:srgbClr val="FFFFFF"/>
                </a:solidFill>
                <a:latin typeface="Arial"/>
              </a:defRPr>
            </a:pPr>
            <a:r>
              <a:t>Result Confidentiality &amp; Official MDA Processing</a:t>
            </a:r>
          </a:p>
        </p:txBody>
      </p:sp>
      <p:sp>
        <p:nvSpPr>
          <p:cNvPr id="5" name="Rounded Rectangle 4"/>
          <p:cNvSpPr/>
          <p:nvPr/>
        </p:nvSpPr>
        <p:spPr>
          <a:xfrm>
            <a:off x="10424160" y="320040"/>
            <a:ext cx="1371600" cy="411480"/>
          </a:xfrm>
          <a:prstGeom prst="roundRect">
            <a:avLst/>
          </a:prstGeom>
          <a:solidFill>
            <a:srgbClr val="00796B"/>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Policy</a:t>
            </a:r>
          </a:p>
        </p:txBody>
      </p:sp>
      <p:sp>
        <p:nvSpPr>
          <p:cNvPr id="6" name="TextBox 5"/>
          <p:cNvSpPr txBox="1"/>
          <p:nvPr/>
        </p:nvSpPr>
        <p:spPr>
          <a:xfrm>
            <a:off x="548640" y="6473952"/>
            <a:ext cx="11094415" cy="320040"/>
          </a:xfrm>
          <a:prstGeom prst="rect">
            <a:avLst/>
          </a:prstGeom>
          <a:noFill/>
        </p:spPr>
        <p:txBody>
          <a:bodyPr wrap="none">
            <a:spAutoFit/>
          </a:bodyPr>
          <a:lstStyle/>
          <a:p>
            <a:pPr>
              <a:defRPr sz="900">
                <a:solidFill>
                  <a:srgbClr val="64748B"/>
                </a:solidFill>
                <a:latin typeface="Arial"/>
              </a:defRPr>
            </a:pPr>
            <a:r>
              <a:t>Kwara State Civil Service Commission (CSC) • 2026 Promotion Evaluation CBT Examination Guide</a:t>
            </a:r>
          </a:p>
        </p:txBody>
      </p:sp>
      <p:sp>
        <p:nvSpPr>
          <p:cNvPr id="7" name="Rounded Rectangle 6"/>
          <p:cNvSpPr/>
          <p:nvPr/>
        </p:nvSpPr>
        <p:spPr>
          <a:xfrm>
            <a:off x="548640" y="1371600"/>
            <a:ext cx="356616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3600"/>
            </a:pPr>
            <a:r>
              <a:t>🔒</a:t>
            </a:r>
          </a:p>
          <a:p>
            <a:pPr algn="ctr">
              <a:defRPr sz="1300" b="1">
                <a:solidFill>
                  <a:srgbClr val="004D40"/>
                </a:solidFill>
                <a:latin typeface="Arial"/>
              </a:defRPr>
            </a:pPr>
            <a:r>
              <a:t>WORKSTATION PRIVACY</a:t>
            </a:r>
          </a:p>
          <a:p/>
          <a:p>
            <a:pPr>
              <a:spcAft>
                <a:spcPts val="800"/>
              </a:spcAft>
              <a:defRPr sz="1000">
                <a:solidFill>
                  <a:srgbClr val="1E293B"/>
                </a:solidFill>
                <a:latin typeface="Arial"/>
              </a:defRPr>
            </a:pPr>
            <a:r>
              <a:t>• Examination scores are NOT displayed to candidates on the computer or mobile screen upon completion.</a:t>
            </a:r>
          </a:p>
          <a:p>
            <a:pPr>
              <a:spcAft>
                <a:spcPts val="800"/>
              </a:spcAft>
              <a:defRPr sz="1000">
                <a:solidFill>
                  <a:srgbClr val="1E293B"/>
                </a:solidFill>
                <a:latin typeface="Arial"/>
              </a:defRPr>
            </a:pPr>
            <a:r>
              <a:t>• This eliminates hall distractions, emotional reactions, and peer pressure during active batches.</a:t>
            </a:r>
          </a:p>
          <a:p>
            <a:pPr>
              <a:spcAft>
                <a:spcPts val="800"/>
              </a:spcAft>
              <a:defRPr sz="1000">
                <a:solidFill>
                  <a:srgbClr val="1E293B"/>
                </a:solidFill>
                <a:latin typeface="Arial"/>
              </a:defRPr>
            </a:pPr>
            <a:r>
              <a:t>• Ensures equal confidentiality across all candidate cadres and ministries.</a:t>
            </a:r>
          </a:p>
        </p:txBody>
      </p:sp>
      <p:sp>
        <p:nvSpPr>
          <p:cNvPr id="8" name="Rounded Rectangle 7"/>
          <p:cNvSpPr/>
          <p:nvPr/>
        </p:nvSpPr>
        <p:spPr>
          <a:xfrm>
            <a:off x="4297679" y="1371600"/>
            <a:ext cx="356616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3600"/>
            </a:pPr>
            <a:r>
              <a:t>🏛️</a:t>
            </a:r>
          </a:p>
          <a:p>
            <a:pPr algn="ctr">
              <a:defRPr sz="1300" b="1">
                <a:solidFill>
                  <a:srgbClr val="004D40"/>
                </a:solidFill>
                <a:latin typeface="Arial"/>
              </a:defRPr>
            </a:pPr>
            <a:r>
              <a:t>MDA CHANNEL DISPATCH</a:t>
            </a:r>
          </a:p>
          <a:p/>
          <a:p>
            <a:pPr>
              <a:spcAft>
                <a:spcPts val="800"/>
              </a:spcAft>
              <a:defRPr sz="1000">
                <a:solidFill>
                  <a:srgbClr val="1E293B"/>
                </a:solidFill>
                <a:latin typeface="Arial"/>
              </a:defRPr>
            </a:pPr>
            <a:r>
              <a:t>• All candidate responses and telemetry logs are securely encrypted and transferred to the CSC central server.</a:t>
            </a:r>
          </a:p>
          <a:p>
            <a:pPr>
              <a:spcAft>
                <a:spcPts val="800"/>
              </a:spcAft>
              <a:defRPr sz="1000">
                <a:solidFill>
                  <a:srgbClr val="1E293B"/>
                </a:solidFill>
                <a:latin typeface="Arial"/>
              </a:defRPr>
            </a:pPr>
            <a:r>
              <a:t>• Master scores are compiled by the Civil Service Commission alongside seniority, APER scores, and interview results.</a:t>
            </a:r>
          </a:p>
          <a:p>
            <a:pPr>
              <a:spcAft>
                <a:spcPts val="800"/>
              </a:spcAft>
              <a:defRPr sz="1000">
                <a:solidFill>
                  <a:srgbClr val="1E293B"/>
                </a:solidFill>
                <a:latin typeface="Arial"/>
              </a:defRPr>
            </a:pPr>
            <a:r>
              <a:t>• Official promotion results are communicated formally through your parent MDA's Director of Personnel Management (DPM).</a:t>
            </a:r>
          </a:p>
        </p:txBody>
      </p:sp>
      <p:sp>
        <p:nvSpPr>
          <p:cNvPr id="9" name="Rounded Rectangle 8"/>
          <p:cNvSpPr/>
          <p:nvPr/>
        </p:nvSpPr>
        <p:spPr>
          <a:xfrm>
            <a:off x="8046719" y="1371600"/>
            <a:ext cx="356616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3600"/>
            </a:pPr>
            <a:r>
              <a:t>⚖️</a:t>
            </a:r>
          </a:p>
          <a:p>
            <a:pPr algn="ctr">
              <a:defRPr sz="1300" b="1">
                <a:solidFill>
                  <a:srgbClr val="004D40"/>
                </a:solidFill>
                <a:latin typeface="Arial"/>
              </a:defRPr>
            </a:pPr>
            <a:r>
              <a:t>INTEGRITY &amp; AUDIT TRAIL</a:t>
            </a:r>
          </a:p>
          <a:p/>
          <a:p>
            <a:pPr>
              <a:spcAft>
                <a:spcPts val="800"/>
              </a:spcAft>
              <a:defRPr sz="1000">
                <a:solidFill>
                  <a:srgbClr val="1E293B"/>
                </a:solidFill>
                <a:latin typeface="Arial"/>
              </a:defRPr>
            </a:pPr>
            <a:r>
              <a:t>• The Admin Portal allows authorized CSC Commissioners to audit test timestamps, time spent, and proctoring telemetry.</a:t>
            </a:r>
          </a:p>
          <a:p>
            <a:pPr>
              <a:spcAft>
                <a:spcPts val="800"/>
              </a:spcAft>
              <a:defRPr sz="1000">
                <a:solidFill>
                  <a:srgbClr val="1E293B"/>
                </a:solidFill>
                <a:latin typeface="Arial"/>
              </a:defRPr>
            </a:pPr>
            <a:r>
              <a:t>• Any candidate with logged security strikes is reviewed by the examination malpractice committee.</a:t>
            </a:r>
          </a:p>
          <a:p>
            <a:pPr>
              <a:spcAft>
                <a:spcPts val="800"/>
              </a:spcAft>
              <a:defRPr sz="1000">
                <a:solidFill>
                  <a:srgbClr val="1E293B"/>
                </a:solidFill>
                <a:latin typeface="Arial"/>
              </a:defRPr>
            </a:pPr>
            <a:r>
              <a:t>• Complete data protection guarantees that no unofficial result leaks occur.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4D40"/>
          </a:solidFill>
          <a:ln>
            <a:solidFill>
              <a:srgbClr val="004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365760" y="109728"/>
            <a:ext cx="822960" cy="822960"/>
          </a:xfrm>
          <a:prstGeom prst="rect">
            <a:avLst/>
          </a:prstGeom>
        </p:spPr>
      </p:pic>
      <p:sp>
        <p:nvSpPr>
          <p:cNvPr id="4" name="TextBox 3"/>
          <p:cNvSpPr txBox="1"/>
          <p:nvPr/>
        </p:nvSpPr>
        <p:spPr>
          <a:xfrm>
            <a:off x="1325880" y="109728"/>
            <a:ext cx="8961120" cy="868680"/>
          </a:xfrm>
          <a:prstGeom prst="rect">
            <a:avLst/>
          </a:prstGeom>
          <a:noFill/>
        </p:spPr>
        <p:txBody>
          <a:bodyPr wrap="square" lIns="0" tIns="0" rIns="0" bIns="0">
            <a:spAutoFit/>
          </a:bodyPr>
          <a:lstStyle/>
          <a:p>
            <a:pPr>
              <a:defRPr sz="950" b="1">
                <a:solidFill>
                  <a:srgbClr val="A7F3D0"/>
                </a:solidFill>
                <a:latin typeface="Arial"/>
              </a:defRPr>
            </a:pPr>
            <a:r>
              <a:t>TECHNICAL ADVISORY</a:t>
            </a:r>
          </a:p>
          <a:p>
            <a:pPr>
              <a:defRPr sz="1700" b="1">
                <a:solidFill>
                  <a:srgbClr val="FFFFFF"/>
                </a:solidFill>
                <a:latin typeface="Arial"/>
              </a:defRPr>
            </a:pPr>
            <a:r>
              <a:t>Best Practices for Mobile Phone / Tablet Candidates</a:t>
            </a:r>
          </a:p>
        </p:txBody>
      </p:sp>
      <p:sp>
        <p:nvSpPr>
          <p:cNvPr id="5" name="Rounded Rectangle 4"/>
          <p:cNvSpPr/>
          <p:nvPr/>
        </p:nvSpPr>
        <p:spPr>
          <a:xfrm>
            <a:off x="10424160" y="320040"/>
            <a:ext cx="1371600" cy="411480"/>
          </a:xfrm>
          <a:prstGeom prst="roundRect">
            <a:avLst/>
          </a:prstGeom>
          <a:solidFill>
            <a:srgbClr val="00796B"/>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Mobile Guide</a:t>
            </a:r>
          </a:p>
        </p:txBody>
      </p:sp>
      <p:sp>
        <p:nvSpPr>
          <p:cNvPr id="6" name="TextBox 5"/>
          <p:cNvSpPr txBox="1"/>
          <p:nvPr/>
        </p:nvSpPr>
        <p:spPr>
          <a:xfrm>
            <a:off x="548640" y="6473952"/>
            <a:ext cx="11094415" cy="320040"/>
          </a:xfrm>
          <a:prstGeom prst="rect">
            <a:avLst/>
          </a:prstGeom>
          <a:noFill/>
        </p:spPr>
        <p:txBody>
          <a:bodyPr wrap="none">
            <a:spAutoFit/>
          </a:bodyPr>
          <a:lstStyle/>
          <a:p>
            <a:pPr>
              <a:defRPr sz="900">
                <a:solidFill>
                  <a:srgbClr val="64748B"/>
                </a:solidFill>
                <a:latin typeface="Arial"/>
              </a:defRPr>
            </a:pPr>
            <a:r>
              <a:t>Kwara State Civil Service Commission (CSC) • 2026 Promotion Evaluation CBT Examination Guide</a:t>
            </a:r>
          </a:p>
        </p:txBody>
      </p:sp>
      <p:sp>
        <p:nvSpPr>
          <p:cNvPr id="7" name="Rounded Rectangle 6"/>
          <p:cNvSpPr/>
          <p:nvPr/>
        </p:nvSpPr>
        <p:spPr>
          <a:xfrm>
            <a:off x="548640" y="1371600"/>
            <a:ext cx="5440680" cy="1417320"/>
          </a:xfrm>
          <a:prstGeom prst="roundRect">
            <a:avLst/>
          </a:prstGeom>
          <a:solidFill>
            <a:srgbClr val="FFFFFF"/>
          </a:solidFill>
          <a:ln w="19050">
            <a:solidFill>
              <a:srgbClr val="004D4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200" b="1">
                <a:solidFill>
                  <a:srgbClr val="004D40"/>
                </a:solidFill>
                <a:latin typeface="Arial"/>
              </a:defRPr>
            </a:pPr>
            <a:r>
              <a:t>🔋 BATTERY PREPARATION</a:t>
            </a:r>
          </a:p>
          <a:p>
            <a:pPr>
              <a:defRPr sz="1000">
                <a:solidFill>
                  <a:srgbClr val="1E293B"/>
                </a:solidFill>
                <a:latin typeface="Arial"/>
              </a:defRPr>
            </a:pPr>
            <a:r>
              <a:t>Charge your mobile device to at least 80% before reporting to the CBT center. Avoid low-power mode dimming during your test.</a:t>
            </a:r>
          </a:p>
        </p:txBody>
      </p:sp>
      <p:sp>
        <p:nvSpPr>
          <p:cNvPr id="8" name="Rounded Rectangle 7"/>
          <p:cNvSpPr/>
          <p:nvPr/>
        </p:nvSpPr>
        <p:spPr>
          <a:xfrm>
            <a:off x="6217920" y="1371600"/>
            <a:ext cx="5440680" cy="141732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200" b="1">
                <a:solidFill>
                  <a:srgbClr val="DC2626"/>
                </a:solidFill>
                <a:latin typeface="Arial"/>
              </a:defRPr>
            </a:pPr>
            <a:r>
              <a:t>🔕 DO NOT DISTURB (DND)</a:t>
            </a:r>
          </a:p>
          <a:p>
            <a:pPr>
              <a:defRPr sz="1000">
                <a:solidFill>
                  <a:srgbClr val="1E293B"/>
                </a:solidFill>
                <a:latin typeface="Arial"/>
              </a:defRPr>
            </a:pPr>
            <a:r>
              <a:t>Enable 'Do Not Disturb' or airplane mode with Wi-Fi only. Incoming phone calls minimize the browser and trigger security strikes!</a:t>
            </a:r>
          </a:p>
        </p:txBody>
      </p:sp>
      <p:sp>
        <p:nvSpPr>
          <p:cNvPr id="9" name="Rounded Rectangle 8"/>
          <p:cNvSpPr/>
          <p:nvPr/>
        </p:nvSpPr>
        <p:spPr>
          <a:xfrm>
            <a:off x="548640" y="2971800"/>
            <a:ext cx="5440680" cy="1417320"/>
          </a:xfrm>
          <a:prstGeom prst="roundRect">
            <a:avLst/>
          </a:prstGeom>
          <a:solidFill>
            <a:srgbClr val="FFFFFF"/>
          </a:solidFill>
          <a:ln w="19050">
            <a:solidFill>
              <a:srgbClr val="00796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200" b="1">
                <a:solidFill>
                  <a:srgbClr val="00796B"/>
                </a:solidFill>
                <a:latin typeface="Arial"/>
              </a:defRPr>
            </a:pPr>
            <a:r>
              <a:t>📱 WIDE / LANDSCAPE MODE</a:t>
            </a:r>
          </a:p>
          <a:p>
            <a:pPr>
              <a:defRPr sz="1000">
                <a:solidFill>
                  <a:srgbClr val="1E293B"/>
                </a:solidFill>
                <a:latin typeface="Arial"/>
              </a:defRPr>
            </a:pPr>
            <a:r>
              <a:t>Rotate your phone to landscape mode if you prefer seeing both the question card and the 40-question grid side-by-side.</a:t>
            </a:r>
          </a:p>
        </p:txBody>
      </p:sp>
      <p:sp>
        <p:nvSpPr>
          <p:cNvPr id="10" name="Rounded Rectangle 9"/>
          <p:cNvSpPr/>
          <p:nvPr/>
        </p:nvSpPr>
        <p:spPr>
          <a:xfrm>
            <a:off x="6217920" y="2971800"/>
            <a:ext cx="5440680" cy="14173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200" b="1">
                <a:solidFill>
                  <a:srgbClr val="D97706"/>
                </a:solidFill>
                <a:latin typeface="Arial"/>
              </a:defRPr>
            </a:pPr>
            <a:r>
              <a:t>👆 NO 3-FINGER SWIPES</a:t>
            </a:r>
          </a:p>
          <a:p>
            <a:pPr>
              <a:defRPr sz="1000">
                <a:solidFill>
                  <a:srgbClr val="1E293B"/>
                </a:solidFill>
                <a:latin typeface="Arial"/>
              </a:defRPr>
            </a:pPr>
            <a:r>
              <a:t>Do not perform 3-finger swipe gestures on your screen. The proctoring system intercepts this as a screenshot attempt and blocks your screen.</a:t>
            </a:r>
          </a:p>
        </p:txBody>
      </p:sp>
      <p:sp>
        <p:nvSpPr>
          <p:cNvPr id="11" name="Rounded Rectangle 10"/>
          <p:cNvSpPr/>
          <p:nvPr/>
        </p:nvSpPr>
        <p:spPr>
          <a:xfrm>
            <a:off x="548640" y="4572000"/>
            <a:ext cx="5440680" cy="1417320"/>
          </a:xfrm>
          <a:prstGeom prst="roundRect">
            <a:avLst/>
          </a:prstGeom>
          <a:solidFill>
            <a:srgbClr val="FFFFFF"/>
          </a:solidFill>
          <a:ln w="19050">
            <a:solidFill>
              <a:srgbClr val="004D4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200" b="1">
                <a:solidFill>
                  <a:srgbClr val="004D40"/>
                </a:solidFill>
                <a:latin typeface="Arial"/>
              </a:defRPr>
            </a:pPr>
            <a:r>
              <a:t>🛡️ SCREEN WAKE-LOCK ACTIVE</a:t>
            </a:r>
          </a:p>
          <a:p>
            <a:pPr>
              <a:defRPr sz="1000">
                <a:solidFill>
                  <a:srgbClr val="1E293B"/>
                </a:solidFill>
                <a:latin typeface="Arial"/>
              </a:defRPr>
            </a:pPr>
            <a:r>
              <a:t>The CBT portal automatically keeps your phone screen awake so your device will not sleep during the 20 minutes.</a:t>
            </a:r>
          </a:p>
        </p:txBody>
      </p:sp>
      <p:sp>
        <p:nvSpPr>
          <p:cNvPr id="12" name="Rounded Rectangle 11"/>
          <p:cNvSpPr/>
          <p:nvPr/>
        </p:nvSpPr>
        <p:spPr>
          <a:xfrm>
            <a:off x="6217920" y="4572000"/>
            <a:ext cx="5440680" cy="1417320"/>
          </a:xfrm>
          <a:prstGeom prst="roundRect">
            <a:avLst/>
          </a:prstGeom>
          <a:solidFill>
            <a:srgbClr val="FFFFFF"/>
          </a:solidFill>
          <a:ln w="19050">
            <a:solidFill>
              <a:srgbClr val="00796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200" b="1">
                <a:solidFill>
                  <a:srgbClr val="00796B"/>
                </a:solidFill>
                <a:latin typeface="Arial"/>
              </a:defRPr>
            </a:pPr>
            <a:r>
              <a:t>🌐 STABLE BROWSER</a:t>
            </a:r>
          </a:p>
          <a:p>
            <a:pPr>
              <a:defRPr sz="1000">
                <a:solidFill>
                  <a:srgbClr val="1E293B"/>
                </a:solidFill>
                <a:latin typeface="Arial"/>
              </a:defRPr>
            </a:pPr>
            <a:r>
              <a:t>Use modern Google Chrome, Microsoft Edge, or Safari. Avoid third-party mini browsers (like Opera Mini) that compress layout.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4D40"/>
          </a:solidFill>
          <a:ln>
            <a:solidFill>
              <a:srgbClr val="004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365760" y="109728"/>
            <a:ext cx="822960" cy="822960"/>
          </a:xfrm>
          <a:prstGeom prst="rect">
            <a:avLst/>
          </a:prstGeom>
        </p:spPr>
      </p:pic>
      <p:sp>
        <p:nvSpPr>
          <p:cNvPr id="4" name="TextBox 3"/>
          <p:cNvSpPr txBox="1"/>
          <p:nvPr/>
        </p:nvSpPr>
        <p:spPr>
          <a:xfrm>
            <a:off x="1325880" y="109728"/>
            <a:ext cx="8961120" cy="868680"/>
          </a:xfrm>
          <a:prstGeom prst="rect">
            <a:avLst/>
          </a:prstGeom>
          <a:noFill/>
        </p:spPr>
        <p:txBody>
          <a:bodyPr wrap="square" lIns="0" tIns="0" rIns="0" bIns="0">
            <a:spAutoFit/>
          </a:bodyPr>
          <a:lstStyle/>
          <a:p>
            <a:pPr>
              <a:defRPr sz="950" b="1">
                <a:solidFill>
                  <a:srgbClr val="A7F3D0"/>
                </a:solidFill>
                <a:latin typeface="Arial"/>
              </a:defRPr>
            </a:pPr>
            <a:r>
              <a:t>EXAM DAY CHECKLIST</a:t>
            </a:r>
          </a:p>
          <a:p>
            <a:pPr>
              <a:defRPr sz="1700" b="1">
                <a:solidFill>
                  <a:srgbClr val="FFFFFF"/>
                </a:solidFill>
                <a:latin typeface="Arial"/>
              </a:defRPr>
            </a:pPr>
            <a:r>
              <a:t>Golden Checklist &amp; Final Instructions for Candidates</a:t>
            </a:r>
          </a:p>
        </p:txBody>
      </p:sp>
      <p:sp>
        <p:nvSpPr>
          <p:cNvPr id="5" name="Rounded Rectangle 4"/>
          <p:cNvSpPr/>
          <p:nvPr/>
        </p:nvSpPr>
        <p:spPr>
          <a:xfrm>
            <a:off x="10424160" y="320040"/>
            <a:ext cx="1371600" cy="411480"/>
          </a:xfrm>
          <a:prstGeom prst="roundRect">
            <a:avLst/>
          </a:prstGeom>
          <a:solidFill>
            <a:srgbClr val="00796B"/>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Checklist</a:t>
            </a:r>
          </a:p>
        </p:txBody>
      </p:sp>
      <p:sp>
        <p:nvSpPr>
          <p:cNvPr id="6" name="TextBox 5"/>
          <p:cNvSpPr txBox="1"/>
          <p:nvPr/>
        </p:nvSpPr>
        <p:spPr>
          <a:xfrm>
            <a:off x="548640" y="6473952"/>
            <a:ext cx="11094415" cy="320040"/>
          </a:xfrm>
          <a:prstGeom prst="rect">
            <a:avLst/>
          </a:prstGeom>
          <a:noFill/>
        </p:spPr>
        <p:txBody>
          <a:bodyPr wrap="none">
            <a:spAutoFit/>
          </a:bodyPr>
          <a:lstStyle/>
          <a:p>
            <a:pPr>
              <a:defRPr sz="900">
                <a:solidFill>
                  <a:srgbClr val="64748B"/>
                </a:solidFill>
                <a:latin typeface="Arial"/>
              </a:defRPr>
            </a:pPr>
            <a:r>
              <a:t>Kwara State Civil Service Commission (CSC) • 2026 Promotion Evaluation CBT Examination Guide</a:t>
            </a:r>
          </a:p>
        </p:txBody>
      </p:sp>
      <p:sp>
        <p:nvSpPr>
          <p:cNvPr id="7" name="Rounded Rectangle 6"/>
          <p:cNvSpPr/>
          <p:nvPr/>
        </p:nvSpPr>
        <p:spPr>
          <a:xfrm>
            <a:off x="548640" y="1371600"/>
            <a:ext cx="5394960" cy="4114800"/>
          </a:xfrm>
          <a:prstGeom prst="roundRect">
            <a:avLst/>
          </a:prstGeom>
          <a:solidFill>
            <a:srgbClr val="F0FDF4"/>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65F46"/>
                </a:solidFill>
                <a:latin typeface="Arial"/>
              </a:defRPr>
            </a:pPr>
            <a:r>
              <a:t>✅ WHAT YOU MUST DO</a:t>
            </a:r>
          </a:p>
          <a:p>
            <a:pPr>
              <a:spcAft>
                <a:spcPts val="600"/>
              </a:spcAft>
              <a:defRPr sz="1050">
                <a:solidFill>
                  <a:srgbClr val="065F46"/>
                </a:solidFill>
                <a:latin typeface="Arial"/>
              </a:defRPr>
            </a:pPr>
            <a:r>
              <a:t>✔  Bring your printed Photocard Slip with your PSN &amp; Code 1.</a:t>
            </a:r>
          </a:p>
          <a:p>
            <a:pPr>
              <a:spcAft>
                <a:spcPts val="600"/>
              </a:spcAft>
              <a:defRPr sz="1050">
                <a:solidFill>
                  <a:srgbClr val="065F46"/>
                </a:solidFill>
                <a:latin typeface="Arial"/>
              </a:defRPr>
            </a:pPr>
            <a:r>
              <a:t>✔  Arrive at your allocated CBT Hall 30 minutes before your batch time.</a:t>
            </a:r>
          </a:p>
          <a:p>
            <a:pPr>
              <a:spcAft>
                <a:spcPts val="600"/>
              </a:spcAft>
              <a:defRPr sz="1050">
                <a:solidFill>
                  <a:srgbClr val="065F46"/>
                </a:solidFill>
                <a:latin typeface="Arial"/>
              </a:defRPr>
            </a:pPr>
            <a:r>
              <a:t>✔  Carefully verify your Name, MDA, and Paper Code before clicking Begin.</a:t>
            </a:r>
          </a:p>
          <a:p>
            <a:pPr>
              <a:spcAft>
                <a:spcPts val="600"/>
              </a:spcAft>
              <a:defRPr sz="1050">
                <a:solidFill>
                  <a:srgbClr val="065F46"/>
                </a:solidFill>
                <a:latin typeface="Arial"/>
              </a:defRPr>
            </a:pPr>
            <a:r>
              <a:t>✔  Keep your eye on the 20-minute countdown clock.</a:t>
            </a:r>
          </a:p>
          <a:p>
            <a:pPr>
              <a:spcAft>
                <a:spcPts val="600"/>
              </a:spcAft>
              <a:defRPr sz="1050">
                <a:solidFill>
                  <a:srgbClr val="065F46"/>
                </a:solidFill>
                <a:latin typeface="Arial"/>
              </a:defRPr>
            </a:pPr>
            <a:r>
              <a:t>✔  Attempt all 40 questions — ensure all boxes turn GREEN.</a:t>
            </a:r>
          </a:p>
          <a:p>
            <a:pPr>
              <a:spcAft>
                <a:spcPts val="600"/>
              </a:spcAft>
              <a:defRPr sz="1050">
                <a:solidFill>
                  <a:srgbClr val="065F46"/>
                </a:solidFill>
                <a:latin typeface="Arial"/>
              </a:defRPr>
            </a:pPr>
            <a:r>
              <a:t>✔  Print or save your Submission Acknowledgement Slip upon completion.</a:t>
            </a:r>
          </a:p>
        </p:txBody>
      </p:sp>
      <p:sp>
        <p:nvSpPr>
          <p:cNvPr id="8" name="Rounded Rectangle 7"/>
          <p:cNvSpPr/>
          <p:nvPr/>
        </p:nvSpPr>
        <p:spPr>
          <a:xfrm>
            <a:off x="6217920" y="1371600"/>
            <a:ext cx="5394960" cy="4114800"/>
          </a:xfrm>
          <a:prstGeom prst="roundRect">
            <a:avLst/>
          </a:prstGeom>
          <a:solidFill>
            <a:srgbClr val="FEF2F2"/>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991B1B"/>
                </a:solidFill>
                <a:latin typeface="Arial"/>
              </a:defRPr>
            </a:pPr>
            <a:r>
              <a:t>❌ WHAT YOU MUST NEVER DO</a:t>
            </a:r>
          </a:p>
          <a:p>
            <a:pPr>
              <a:spcAft>
                <a:spcPts val="600"/>
              </a:spcAft>
              <a:defRPr sz="1050">
                <a:solidFill>
                  <a:srgbClr val="991B1B"/>
                </a:solidFill>
                <a:latin typeface="Arial"/>
              </a:defRPr>
            </a:pPr>
            <a:r>
              <a:t>✖  NEVER switch to another browser tab or application (Strike trigger).</a:t>
            </a:r>
          </a:p>
          <a:p>
            <a:pPr>
              <a:spcAft>
                <a:spcPts val="600"/>
              </a:spcAft>
              <a:defRPr sz="1050">
                <a:solidFill>
                  <a:srgbClr val="991B1B"/>
                </a:solidFill>
                <a:latin typeface="Arial"/>
              </a:defRPr>
            </a:pPr>
            <a:r>
              <a:t>✖  NEVER attempt screen capture (PrintScreen, Snipping tool, shortcuts).</a:t>
            </a:r>
          </a:p>
          <a:p>
            <a:pPr>
              <a:spcAft>
                <a:spcPts val="600"/>
              </a:spcAft>
              <a:defRPr sz="1050">
                <a:solidFill>
                  <a:srgbClr val="991B1B"/>
                </a:solidFill>
                <a:latin typeface="Arial"/>
              </a:defRPr>
            </a:pPr>
            <a:r>
              <a:t>✖  NEVER leave questions unanswered (each blank question is 0 marks).</a:t>
            </a:r>
          </a:p>
          <a:p>
            <a:pPr>
              <a:spcAft>
                <a:spcPts val="600"/>
              </a:spcAft>
              <a:defRPr sz="1050">
                <a:solidFill>
                  <a:srgbClr val="991B1B"/>
                </a:solidFill>
                <a:latin typeface="Arial"/>
              </a:defRPr>
            </a:pPr>
            <a:r>
              <a:t>✖  NEVER click 'Submit' prematurely without double-checking your grid.</a:t>
            </a:r>
          </a:p>
          <a:p>
            <a:pPr>
              <a:spcAft>
                <a:spcPts val="600"/>
              </a:spcAft>
              <a:defRPr sz="1050">
                <a:solidFill>
                  <a:srgbClr val="991B1B"/>
                </a:solidFill>
                <a:latin typeface="Arial"/>
              </a:defRPr>
            </a:pPr>
            <a:r>
              <a:t>✖  NEVER expect or demand a numerical score on your workstation.</a:t>
            </a:r>
          </a:p>
          <a:p>
            <a:pPr>
              <a:spcAft>
                <a:spcPts val="600"/>
              </a:spcAft>
              <a:defRPr sz="1050">
                <a:solidFill>
                  <a:srgbClr val="991B1B"/>
                </a:solidFill>
                <a:latin typeface="Arial"/>
              </a:defRPr>
            </a:pPr>
            <a:r>
              <a:t>✖  NEVER attempt a second login after submitting (Single attempt rule).</a:t>
            </a:r>
          </a:p>
        </p:txBody>
      </p:sp>
      <p:sp>
        <p:nvSpPr>
          <p:cNvPr id="9" name="Rounded Rectangle 8"/>
          <p:cNvSpPr/>
          <p:nvPr/>
        </p:nvSpPr>
        <p:spPr>
          <a:xfrm>
            <a:off x="548640" y="5623560"/>
            <a:ext cx="11064240" cy="731520"/>
          </a:xfrm>
          <a:prstGeom prst="roundRect">
            <a:avLst/>
          </a:prstGeom>
          <a:solidFill>
            <a:srgbClr val="004D40"/>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 The Kwara State Civil Service Commission wishes all promotion candidates success in their evaluation!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